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media/image1.png" ContentType="image/png"/>
  <Override PartName="/ppt/media/image2.jpeg" ContentType="image/jpeg"/>
  <Override PartName="/customXml/itemProps1.xml" ContentType="application/vnd.openxmlformats-officedocument.customXmlProperties+xml"/>
  <Override PartName="/customXml/itemProps2.xml" ContentType="application/vnd.openxmlformats-officedocument.customXmlProperties+xml"/>
  <Override PartName="/ppt/_rels/presentation.xml.rels" ContentType="application/vnd.openxmlformats-package.relationship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officeDocument/2006/relationships/extended-properties" Target="docProps/app.xml"/><Relationship Id="rId1" Type="http://schemas.openxmlformats.org/officedocument/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9144000" cy="513715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customXml" Target="../customXml/item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ustomXml" Target="../customXml/item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theme" Target="theme/theme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ustomXml" Target="../customXml/item3.xml"/><Relationship Id="rId8" Type="http://schemas.openxmlformats.org/officeDocument/2006/relationships/slide" Target="slides/slide6.xml"/></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23122F9-82D5-4AA0-AEF8-964FE4D14EBD}"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28560" y="272520"/>
            <a:ext cx="7886880" cy="993960"/>
          </a:xfrm>
          <a:prstGeom prst="rect">
            <a:avLst/>
          </a:prstGeom>
          <a:noFill/>
          <a:ln w="0">
            <a:noFill/>
          </a:ln>
        </p:spPr>
        <p:txBody>
          <a:bodyPr lIns="90000" rIns="90000" tIns="46800" bIns="46800" anchor="ctr">
            <a:noAutofit/>
          </a:bodyPr>
          <a:p>
            <a:pPr indent="0">
              <a:lnSpc>
                <a:spcPct val="90000"/>
              </a:lnSpc>
              <a:buNone/>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3200" strike="noStrike" u="none">
                <a:solidFill>
                  <a:srgbClr val="000000"/>
                </a:solidFill>
                <a:uFillTx/>
                <a:latin typeface="Calibri Light"/>
              </a:rPr>
              <a:t>Click to edit the title text format</a:t>
            </a:r>
            <a:endParaRPr b="0" lang="en-US" sz="3200" strike="noStrike" u="none">
              <a:solidFill>
                <a:srgbClr val="000000"/>
              </a:solidFill>
              <a:uFillTx/>
              <a:latin typeface="Calibri Light"/>
            </a:endParaRPr>
          </a:p>
        </p:txBody>
      </p:sp>
      <p:sp>
        <p:nvSpPr>
          <p:cNvPr id="1" name="PlaceHolder 2"/>
          <p:cNvSpPr>
            <a:spLocks noGrp="1"/>
          </p:cNvSpPr>
          <p:nvPr>
            <p:ph type="body"/>
          </p:nvPr>
        </p:nvSpPr>
        <p:spPr>
          <a:xfrm>
            <a:off x="628560" y="1368360"/>
            <a:ext cx="7886880" cy="3260880"/>
          </a:xfrm>
          <a:prstGeom prst="rect">
            <a:avLst/>
          </a:prstGeom>
          <a:noFill/>
          <a:ln w="0">
            <a:noFill/>
          </a:ln>
        </p:spPr>
        <p:txBody>
          <a:bodyPr lIns="90000" rIns="90000" tIns="46800" bIns="46800" anchor="t">
            <a:normAutofit/>
          </a:bodyPr>
          <a:p>
            <a:pPr marL="169920" indent="-16992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Click to edit the outline text format</a:t>
            </a:r>
            <a:endParaRPr b="0" lang="en-US" sz="2000" strike="noStrike" u="none">
              <a:solidFill>
                <a:srgbClr val="000000"/>
              </a:solidFill>
              <a:uFillTx/>
              <a:latin typeface="Calibri"/>
            </a:endParaRPr>
          </a:p>
          <a:p>
            <a:pPr lvl="1" marL="512640" indent="-16956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Second Outline Level</a:t>
            </a:r>
            <a:endParaRPr b="0" lang="en-US" sz="2000" strike="noStrike" u="none">
              <a:solidFill>
                <a:srgbClr val="000000"/>
              </a:solidFill>
              <a:uFillTx/>
              <a:latin typeface="Calibri"/>
            </a:endParaRPr>
          </a:p>
          <a:p>
            <a:pPr lvl="2" marL="855720" indent="-16992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Third Outline Level</a:t>
            </a:r>
            <a:endParaRPr b="0" lang="en-US" sz="2000" strike="noStrike" u="none">
              <a:solidFill>
                <a:srgbClr val="000000"/>
              </a:solidFill>
              <a:uFillTx/>
              <a:latin typeface="Calibri"/>
            </a:endParaRPr>
          </a:p>
          <a:p>
            <a:pPr lvl="3" marL="1198440" indent="-16956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Fourth Outline Level</a:t>
            </a:r>
            <a:endParaRPr b="0" lang="en-US" sz="2000" strike="noStrike" u="none">
              <a:solidFill>
                <a:srgbClr val="000000"/>
              </a:solidFill>
              <a:uFillTx/>
              <a:latin typeface="Calibri"/>
            </a:endParaRPr>
          </a:p>
          <a:p>
            <a:pPr lvl="4" marL="1541520" indent="-16992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Fifth Outline Level</a:t>
            </a:r>
            <a:endParaRPr b="0" lang="en-US" sz="2000" strike="noStrike" u="none">
              <a:solidFill>
                <a:srgbClr val="000000"/>
              </a:solidFill>
              <a:uFillTx/>
              <a:latin typeface="Calibri"/>
            </a:endParaRPr>
          </a:p>
          <a:p>
            <a:pPr lvl="5" marL="1541520" indent="-16992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Sixth Outline Level</a:t>
            </a:r>
            <a:endParaRPr b="0" lang="en-US" sz="2000" strike="noStrike" u="none">
              <a:solidFill>
                <a:srgbClr val="000000"/>
              </a:solidFill>
              <a:uFillTx/>
              <a:latin typeface="Calibri"/>
            </a:endParaRPr>
          </a:p>
          <a:p>
            <a:pPr lvl="6" marL="1541520" indent="-169920">
              <a:lnSpc>
                <a:spcPct val="90000"/>
              </a:lnSpc>
              <a:spcBef>
                <a:spcPts val="751"/>
              </a:spcBef>
              <a:buClr>
                <a:srgbClr val="000000"/>
              </a:buClr>
              <a:buFont typeface="Arial"/>
              <a:buChar cha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Seventh Outline Level</a:t>
            </a:r>
            <a:endParaRPr b="0" lang="en-US" sz="2000" strike="noStrike" u="none">
              <a:solidFill>
                <a:srgbClr val="000000"/>
              </a:solidFill>
              <a:uFillTx/>
              <a:latin typeface="Calibri"/>
            </a:endParaRPr>
          </a:p>
        </p:txBody>
      </p:sp>
      <p:sp>
        <p:nvSpPr>
          <p:cNvPr id="2" name="PlaceHolder 3"/>
          <p:cNvSpPr>
            <a:spLocks noGrp="1"/>
          </p:cNvSpPr>
          <p:nvPr>
            <p:ph type="dt" idx="1"/>
          </p:nvPr>
        </p:nvSpPr>
        <p:spPr>
          <a:xfrm>
            <a:off x="628200" y="4762080"/>
            <a:ext cx="2057400" cy="274680"/>
          </a:xfrm>
          <a:prstGeom prst="rect">
            <a:avLst/>
          </a:prstGeom>
          <a:noFill/>
          <a:ln w="0">
            <a:noFill/>
          </a:ln>
        </p:spPr>
        <p:txBody>
          <a:bodyPr lIns="90000" rIns="90000" tIns="46800" bIns="46800" anchor="ctr">
            <a:noAutofit/>
          </a:bodyPr>
          <a:lstStyle>
            <a:lvl1pPr indent="0">
              <a:buNone/>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defRPr b="0" lang="en-US" sz="800" strike="noStrike" u="none">
                <a:solidFill>
                  <a:srgbClr val="898989"/>
                </a:solidFill>
                <a:uFillTx/>
                <a:latin typeface="Calibri"/>
              </a:defRPr>
            </a:lvl1pPr>
          </a:lstStyle>
          <a:p>
            <a:pPr indent="0">
              <a:buNone/>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800" strike="noStrike" u="none">
                <a:solidFill>
                  <a:srgbClr val="898989"/>
                </a:solidFill>
                <a:uFillTx/>
                <a:latin typeface="Calibri"/>
              </a:rPr>
              <a:t>&lt;date/time&gt;</a:t>
            </a:r>
            <a:endParaRPr b="0" lang="en-US" sz="800" strike="noStrike" u="none">
              <a:solidFill>
                <a:srgbClr val="000000"/>
              </a:solidFill>
              <a:uFillTx/>
              <a:latin typeface="Calibri"/>
            </a:endParaRPr>
          </a:p>
        </p:txBody>
      </p:sp>
      <p:sp>
        <p:nvSpPr>
          <p:cNvPr id="3" name="PlaceHolder 4"/>
          <p:cNvSpPr>
            <a:spLocks noGrp="1"/>
          </p:cNvSpPr>
          <p:nvPr>
            <p:ph type="ftr" idx="2"/>
          </p:nvPr>
        </p:nvSpPr>
        <p:spPr>
          <a:xfrm>
            <a:off x="3029040" y="4762080"/>
            <a:ext cx="3085920" cy="274680"/>
          </a:xfrm>
          <a:prstGeom prst="rect">
            <a:avLst/>
          </a:prstGeom>
          <a:noFill/>
          <a:ln w="0">
            <a:noFill/>
          </a:ln>
        </p:spPr>
        <p:txBody>
          <a:bodyPr lIns="90000" rIns="90000" tIns="46800" bIns="46800" anchor="ctr">
            <a:noAutofit/>
          </a:bodyPr>
          <a:p>
            <a:pPr indent="0">
              <a:buNone/>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4" name="PlaceHolder 5"/>
          <p:cNvSpPr>
            <a:spLocks noGrp="1"/>
          </p:cNvSpPr>
          <p:nvPr>
            <p:ph type="sldNum" idx="3"/>
          </p:nvPr>
        </p:nvSpPr>
        <p:spPr>
          <a:xfrm>
            <a:off x="6457680" y="4762080"/>
            <a:ext cx="2057400" cy="274680"/>
          </a:xfrm>
          <a:prstGeom prst="rect">
            <a:avLst/>
          </a:prstGeom>
          <a:noFill/>
          <a:ln w="0">
            <a:noFill/>
          </a:ln>
        </p:spPr>
        <p:txBody>
          <a:bodyPr lIns="90000" rIns="90000" tIns="46800" bIns="46800" anchor="ctr">
            <a:noAutofit/>
          </a:bodyPr>
          <a:lstStyle>
            <a:lvl1pPr indent="0" algn="r">
              <a:buNone/>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defRPr b="0" lang="en-US" sz="800" strike="noStrike" u="none">
                <a:solidFill>
                  <a:srgbClr val="898989"/>
                </a:solidFill>
                <a:uFillTx/>
                <a:latin typeface="Calibri"/>
              </a:defRPr>
            </a:lvl1pPr>
          </a:lstStyle>
          <a:p>
            <a:pPr indent="0" algn="r">
              <a:buNone/>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fld id="{29B36FFC-ACDC-419E-A5D6-F9A1DF0A2831}" type="slidenum">
              <a:rPr b="0" lang="en-US" sz="800" strike="noStrike" u="none">
                <a:solidFill>
                  <a:srgbClr val="898989"/>
                </a:solidFill>
                <a:uFillTx/>
                <a:latin typeface="Calibri"/>
              </a:rPr>
              <a:t>&lt;number&gt;</a:t>
            </a:fld>
            <a:endParaRPr b="0" lang="en-US" sz="800" strike="noStrike" u="none">
              <a:solidFill>
                <a:srgbClr val="000000"/>
              </a:solidFill>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7fafd"/>
            </a:gs>
            <a:gs pos="100000">
              <a:srgbClr val="cee1f2"/>
            </a:gs>
          </a:gsLst>
          <a:lin ang="5400000"/>
        </a:gradFill>
      </p:bgPr>
    </p:bg>
    <p:spTree>
      <p:nvGrpSpPr>
        <p:cNvPr id="1" name=""/>
        <p:cNvGrpSpPr/>
        <p:nvPr/>
      </p:nvGrpSpPr>
      <p:grpSpPr>
        <a:xfrm>
          <a:off x="0" y="0"/>
          <a:ext cx="0" cy="0"/>
          <a:chOff x="0" y="0"/>
          <a:chExt cx="0" cy="0"/>
        </a:xfrm>
      </p:grpSpPr>
      <p:grpSp>
        <p:nvGrpSpPr>
          <p:cNvPr id="5" name="Group 5"/>
          <p:cNvGrpSpPr/>
          <p:nvPr/>
        </p:nvGrpSpPr>
        <p:grpSpPr>
          <a:xfrm>
            <a:off x="0" y="5046840"/>
            <a:ext cx="9144000" cy="102960"/>
            <a:chOff x="0" y="5046840"/>
            <a:chExt cx="9144000" cy="102960"/>
          </a:xfrm>
        </p:grpSpPr>
        <p:sp>
          <p:nvSpPr>
            <p:cNvPr id="6"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7" name="Flowchart: Process 4"/>
            <p:cNvSpPr/>
            <p:nvPr/>
          </p:nvSpPr>
          <p:spPr>
            <a:xfrm>
              <a:off x="5818320" y="5046840"/>
              <a:ext cx="3325680" cy="100080"/>
            </a:xfrm>
            <a:prstGeom prst="flowChartProcess">
              <a:avLst/>
            </a:prstGeom>
            <a:solidFill>
              <a:srgbClr val="ffc0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800" strike="noStrike" u="none">
                  <a:solidFill>
                    <a:srgbClr val="006600"/>
                  </a:solidFill>
                  <a:uFillTx/>
                  <a:latin typeface="Calibri"/>
                </a:rPr>
                <a:t>Don Bosco College of Agriculture</a:t>
              </a:r>
              <a:endParaRPr b="0" lang="en-US" sz="800" strike="noStrike" u="none">
                <a:solidFill>
                  <a:srgbClr val="000000"/>
                </a:solidFill>
                <a:uFillTx/>
                <a:latin typeface="Calibri"/>
              </a:endParaRPr>
            </a:p>
          </p:txBody>
        </p:sp>
      </p:grpSp>
      <p:sp>
        <p:nvSpPr>
          <p:cNvPr id="8" name="TextBox 8"/>
          <p:cNvSpPr/>
          <p:nvPr/>
        </p:nvSpPr>
        <p:spPr>
          <a:xfrm>
            <a:off x="3543480" y="4191120"/>
            <a:ext cx="2932920" cy="70380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400" strike="noStrike" u="none">
              <a:solidFill>
                <a:srgbClr val="000000"/>
              </a:solidFill>
              <a:uFillTx/>
              <a:latin typeface="Calibri"/>
            </a:endParaRPr>
          </a:p>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6600"/>
                </a:solidFill>
                <a:uFillTx/>
                <a:latin typeface="Calibri"/>
              </a:rPr>
              <a:t>Don Bosco College of Agriculture</a:t>
            </a:r>
            <a:endParaRPr b="0" lang="en-US" sz="1600" strike="noStrike" u="none">
              <a:solidFill>
                <a:srgbClr val="000000"/>
              </a:solidFill>
              <a:uFillTx/>
              <a:latin typeface="Calibri"/>
            </a:endParaRPr>
          </a:p>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000" strike="noStrike" u="none">
                <a:solidFill>
                  <a:srgbClr val="006600"/>
                </a:solidFill>
                <a:uFillTx/>
                <a:latin typeface="Calibri"/>
              </a:rPr>
              <a:t>(Affiliated to Goa University)</a:t>
            </a:r>
            <a:endParaRPr b="0" lang="en-US" sz="1000" strike="noStrike" u="none">
              <a:solidFill>
                <a:srgbClr val="000000"/>
              </a:solidFill>
              <a:uFillTx/>
              <a:latin typeface="Calibri"/>
            </a:endParaRPr>
          </a:p>
        </p:txBody>
      </p:sp>
      <p:pic>
        <p:nvPicPr>
          <p:cNvPr id="9" name="Picture 1" descr=""/>
          <p:cNvPicPr/>
          <p:nvPr/>
        </p:nvPicPr>
        <p:blipFill>
          <a:blip r:embed="rId1"/>
          <a:stretch/>
        </p:blipFill>
        <p:spPr>
          <a:xfrm>
            <a:off x="139680" y="85680"/>
            <a:ext cx="1287360" cy="1189080"/>
          </a:xfrm>
          <a:prstGeom prst="rect">
            <a:avLst/>
          </a:prstGeom>
          <a:noFill/>
          <a:ln w="0">
            <a:noFill/>
          </a:ln>
        </p:spPr>
      </p:pic>
      <p:sp>
        <p:nvSpPr>
          <p:cNvPr id="10" name="Rounded Rectangle 2"/>
          <p:cNvSpPr/>
          <p:nvPr/>
        </p:nvSpPr>
        <p:spPr>
          <a:xfrm>
            <a:off x="2347920" y="1106640"/>
            <a:ext cx="5324400" cy="1104840"/>
          </a:xfrm>
          <a:prstGeom prst="roundRect">
            <a:avLst>
              <a:gd name="adj" fmla="val 16667"/>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3200" strike="noStrike" u="none">
                <a:solidFill>
                  <a:srgbClr val="000099"/>
                </a:solidFill>
                <a:uFillTx/>
                <a:latin typeface="Monotype Corsiva"/>
              </a:rPr>
              <a:t>Welcome</a:t>
            </a:r>
            <a:endParaRPr b="0" lang="en-US" sz="3200" strike="noStrike" u="none">
              <a:solidFill>
                <a:srgbClr val="000000"/>
              </a:solidFill>
              <a:uFillTx/>
              <a:latin typeface="Calibri"/>
            </a:endParaRPr>
          </a:p>
          <a:p>
            <a:pPr algn="ctr">
              <a:lnSpc>
                <a:spcPct val="100000"/>
              </a:lnSpc>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800" strike="noStrike" u="none">
              <a:solidFill>
                <a:srgbClr val="000000"/>
              </a:solidFill>
              <a:uFillTx/>
              <a:latin typeface="Calibri"/>
            </a:endParaRPr>
          </a:p>
          <a:p>
            <a:pPr algn="ctr">
              <a:lnSpc>
                <a:spcPct val="100000"/>
              </a:lnSpc>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800" strike="noStrike" u="none">
              <a:solidFill>
                <a:srgbClr val="000000"/>
              </a:solidFill>
              <a:uFillTx/>
              <a:latin typeface="Calibri"/>
            </a:endParaRPr>
          </a:p>
        </p:txBody>
      </p:sp>
      <p:sp>
        <p:nvSpPr>
          <p:cNvPr id="11" name="Rectangle 11"/>
          <p:cNvSpPr/>
          <p:nvPr/>
        </p:nvSpPr>
        <p:spPr>
          <a:xfrm>
            <a:off x="4160520" y="4091040"/>
            <a:ext cx="1784880" cy="27684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200" strike="noStrike" u="none">
                <a:solidFill>
                  <a:srgbClr val="006600"/>
                </a:solidFill>
                <a:uFillTx/>
                <a:latin typeface="Calibri"/>
                <a:ea typeface="Times New Roman"/>
              </a:rPr>
              <a:t>Date: 19</a:t>
            </a:r>
            <a:r>
              <a:rPr b="0" lang="en-US" sz="1200" strike="noStrike" u="none" baseline="30000">
                <a:solidFill>
                  <a:srgbClr val="006600"/>
                </a:solidFill>
                <a:uFillTx/>
                <a:latin typeface="Calibri"/>
                <a:ea typeface="Times New Roman"/>
              </a:rPr>
              <a:t>th</a:t>
            </a:r>
            <a:r>
              <a:rPr b="0" lang="en-US" sz="1200" strike="noStrike" u="none">
                <a:solidFill>
                  <a:srgbClr val="006600"/>
                </a:solidFill>
                <a:uFillTx/>
                <a:latin typeface="Calibri"/>
                <a:ea typeface="Times New Roman"/>
              </a:rPr>
              <a:t> February , 2020</a:t>
            </a:r>
            <a:endParaRPr b="0" lang="en-US" sz="12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 name="Group 5"/>
          <p:cNvGrpSpPr/>
          <p:nvPr/>
        </p:nvGrpSpPr>
        <p:grpSpPr>
          <a:xfrm>
            <a:off x="0" y="5046840"/>
            <a:ext cx="9144000" cy="102960"/>
            <a:chOff x="0" y="5046840"/>
            <a:chExt cx="9144000" cy="102960"/>
          </a:xfrm>
        </p:grpSpPr>
        <p:sp>
          <p:nvSpPr>
            <p:cNvPr id="13"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4"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5"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6" name="Picture 10" descr=""/>
          <p:cNvPicPr/>
          <p:nvPr/>
        </p:nvPicPr>
        <p:blipFill>
          <a:blip r:embed="rId1"/>
          <a:stretch/>
        </p:blipFill>
        <p:spPr>
          <a:xfrm>
            <a:off x="8015400" y="34920"/>
            <a:ext cx="728640" cy="677880"/>
          </a:xfrm>
          <a:prstGeom prst="rect">
            <a:avLst/>
          </a:prstGeom>
          <a:noFill/>
          <a:ln w="0">
            <a:noFill/>
          </a:ln>
        </p:spPr>
      </p:pic>
      <p:sp>
        <p:nvSpPr>
          <p:cNvPr id="17" name="TextBox 1"/>
          <p:cNvSpPr/>
          <p:nvPr/>
        </p:nvSpPr>
        <p:spPr>
          <a:xfrm>
            <a:off x="325440" y="131760"/>
            <a:ext cx="7689960" cy="642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LECT 23-24 : Classification of agro chemicals    Agro-chemicals</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p:txBody>
      </p:sp>
      <p:sp>
        <p:nvSpPr>
          <p:cNvPr id="18" name="TextBox 2"/>
          <p:cNvSpPr/>
          <p:nvPr/>
        </p:nvSpPr>
        <p:spPr>
          <a:xfrm>
            <a:off x="433440" y="927000"/>
            <a:ext cx="8494560" cy="39934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The chemicals used in agriculture to maintain or to increase the crop production.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They are grouped as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1.</a:t>
            </a:r>
            <a:r>
              <a:rPr b="0" lang="en-US" sz="1600" strike="noStrike" u="none">
                <a:solidFill>
                  <a:srgbClr val="000000"/>
                </a:solidFill>
                <a:uFillTx/>
                <a:latin typeface="Calibri"/>
              </a:rPr>
              <a:t>	</a:t>
            </a:r>
            <a:r>
              <a:rPr b="0" lang="en-US" sz="1600" strike="noStrike" u="none">
                <a:solidFill>
                  <a:srgbClr val="000000"/>
                </a:solidFill>
                <a:uFillTx/>
                <a:latin typeface="Calibri"/>
              </a:rPr>
              <a:t>Plant production chemicals</a:t>
            </a:r>
            <a:r>
              <a:rPr b="0" lang="en-US" sz="1600" strike="noStrike" u="none">
                <a:solidFill>
                  <a:srgbClr val="000000"/>
                </a:solidFill>
                <a:uFillTx/>
                <a:latin typeface="Calibri"/>
              </a:rPr>
              <a:t>	</a:t>
            </a:r>
            <a:r>
              <a:rPr b="0" lang="en-US" sz="1600" strike="noStrike" u="none">
                <a:solidFill>
                  <a:srgbClr val="000000"/>
                </a:solidFill>
                <a:uFillTx/>
                <a:latin typeface="Calibri"/>
              </a:rPr>
              <a:t>	</a:t>
            </a:r>
            <a:r>
              <a:rPr b="0" lang="en-US" sz="1600" strike="noStrike" u="none">
                <a:solidFill>
                  <a:srgbClr val="000000"/>
                </a:solidFill>
                <a:uFillTx/>
                <a:latin typeface="Calibri"/>
              </a:rPr>
              <a:t>-</a:t>
            </a:r>
            <a:r>
              <a:rPr b="0" lang="en-US" sz="1600" strike="noStrike" u="none">
                <a:solidFill>
                  <a:srgbClr val="000000"/>
                </a:solidFill>
                <a:uFillTx/>
                <a:latin typeface="Calibri"/>
              </a:rPr>
              <a:t>	</a:t>
            </a:r>
            <a:r>
              <a:rPr b="0" lang="en-US" sz="1600" strike="noStrike" u="none">
                <a:solidFill>
                  <a:srgbClr val="000000"/>
                </a:solidFill>
                <a:uFillTx/>
                <a:latin typeface="Calibri"/>
              </a:rPr>
              <a:t>Fertilizers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2.</a:t>
            </a:r>
            <a:r>
              <a:rPr b="0" lang="en-US" sz="1600" strike="noStrike" u="none">
                <a:solidFill>
                  <a:srgbClr val="000000"/>
                </a:solidFill>
                <a:uFillTx/>
                <a:latin typeface="Calibri"/>
              </a:rPr>
              <a:t>	</a:t>
            </a:r>
            <a:r>
              <a:rPr b="0" lang="en-US" sz="1600" strike="noStrike" u="none">
                <a:solidFill>
                  <a:srgbClr val="000000"/>
                </a:solidFill>
                <a:uFillTx/>
                <a:latin typeface="Calibri"/>
              </a:rPr>
              <a:t>Plant protection chemicals</a:t>
            </a:r>
            <a:r>
              <a:rPr b="0" lang="en-US" sz="1600" strike="noStrike" u="none">
                <a:solidFill>
                  <a:srgbClr val="000000"/>
                </a:solidFill>
                <a:uFillTx/>
                <a:latin typeface="Calibri"/>
              </a:rPr>
              <a:t>	</a:t>
            </a:r>
            <a:r>
              <a:rPr b="0" lang="en-US" sz="1600" strike="noStrike" u="none">
                <a:solidFill>
                  <a:srgbClr val="000000"/>
                </a:solidFill>
                <a:uFillTx/>
                <a:latin typeface="Calibri"/>
              </a:rPr>
              <a:t>	</a:t>
            </a:r>
            <a:r>
              <a:rPr b="0" lang="en-US" sz="1600" strike="noStrike" u="none">
                <a:solidFill>
                  <a:srgbClr val="000000"/>
                </a:solidFill>
                <a:uFillTx/>
                <a:latin typeface="Calibri"/>
              </a:rPr>
              <a:t>-</a:t>
            </a:r>
            <a:r>
              <a:rPr b="0" lang="en-US" sz="1600" strike="noStrike" u="none">
                <a:solidFill>
                  <a:srgbClr val="000000"/>
                </a:solidFill>
                <a:uFillTx/>
                <a:latin typeface="Calibri"/>
              </a:rPr>
              <a:t>	</a:t>
            </a:r>
            <a:r>
              <a:rPr b="0" lang="en-US" sz="1600" strike="noStrike" u="none">
                <a:solidFill>
                  <a:srgbClr val="000000"/>
                </a:solidFill>
                <a:uFillTx/>
                <a:latin typeface="Calibri"/>
              </a:rPr>
              <a:t>Pesticides</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3.</a:t>
            </a:r>
            <a:r>
              <a:rPr b="0" lang="en-US" sz="1600" strike="noStrike" u="none">
                <a:solidFill>
                  <a:srgbClr val="000000"/>
                </a:solidFill>
                <a:uFillTx/>
                <a:latin typeface="Calibri"/>
              </a:rPr>
              <a:t>	</a:t>
            </a:r>
            <a:r>
              <a:rPr b="0" lang="en-US" sz="1600" strike="noStrike" u="none">
                <a:solidFill>
                  <a:srgbClr val="000000"/>
                </a:solidFill>
                <a:uFillTx/>
                <a:latin typeface="Calibri"/>
              </a:rPr>
              <a:t>Adjuvants, synergists</a:t>
            </a:r>
            <a:r>
              <a:rPr b="0" lang="en-US" sz="1600" strike="noStrike" u="none">
                <a:solidFill>
                  <a:srgbClr val="000000"/>
                </a:solidFill>
                <a:uFillTx/>
                <a:latin typeface="Calibri"/>
              </a:rPr>
              <a:t>	</a:t>
            </a:r>
            <a:r>
              <a:rPr b="0" lang="en-US" sz="1600" strike="noStrike" u="none">
                <a:solidFill>
                  <a:srgbClr val="000000"/>
                </a:solidFill>
                <a:uFillTx/>
                <a:latin typeface="Calibri"/>
              </a:rPr>
              <a:t>	</a:t>
            </a:r>
            <a:r>
              <a:rPr b="0" lang="en-US" sz="1600" strike="noStrike" u="none">
                <a:solidFill>
                  <a:srgbClr val="000000"/>
                </a:solidFill>
                <a:uFillTx/>
                <a:latin typeface="Calibri"/>
              </a:rPr>
              <a:t>-</a:t>
            </a:r>
            <a:r>
              <a:rPr b="0" lang="en-US" sz="1600" strike="noStrike" u="none">
                <a:solidFill>
                  <a:srgbClr val="000000"/>
                </a:solidFill>
                <a:uFillTx/>
                <a:latin typeface="Calibri"/>
              </a:rPr>
              <a:t>	</a:t>
            </a:r>
            <a:r>
              <a:rPr b="0" lang="en-US" sz="1600" strike="noStrike" u="none">
                <a:solidFill>
                  <a:srgbClr val="000000"/>
                </a:solidFill>
                <a:uFillTx/>
                <a:latin typeface="Calibri"/>
              </a:rPr>
              <a:t>Plant growth regulators.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Pesticides</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	</a:t>
            </a:r>
            <a:r>
              <a:rPr b="0" lang="en-US" sz="1600" strike="noStrike" u="none">
                <a:solidFill>
                  <a:srgbClr val="000000"/>
                </a:solidFill>
                <a:uFillTx/>
                <a:latin typeface="Calibri"/>
              </a:rPr>
              <a:t>Any substance or mixture of substances used to prevent, destroy, repell or mitigating any insects, rodent, namelodey, fungi, weed or any other form of terrestrial or aquatic plant or animal life or microorganisms.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	</a:t>
            </a:r>
            <a:r>
              <a:rPr b="0" lang="en-US" sz="1600" strike="noStrike" u="none">
                <a:solidFill>
                  <a:srgbClr val="000000"/>
                </a:solidFill>
                <a:uFillTx/>
                <a:latin typeface="Calibri"/>
              </a:rPr>
              <a:t>Pesticides is a general term which includes all the chemicals used as insecticides, fungicides, herbicides etc.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	</a:t>
            </a:r>
            <a:r>
              <a:rPr b="0" lang="en-US" sz="1600" strike="noStrike" u="none">
                <a:solidFill>
                  <a:srgbClr val="000000"/>
                </a:solidFill>
                <a:uFillTx/>
                <a:latin typeface="Calibri"/>
              </a:rPr>
              <a:t>Pesticides means any substance intended for preventing, destroying, attracting, repelling or controlling any pest including unwanted species of plants or animals during production storage, transport, distribution and processing of food agricultural commodities or animal feeds or which may be administered to the animals for the control of ectoparasites.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9" name="Group 5"/>
          <p:cNvGrpSpPr/>
          <p:nvPr/>
        </p:nvGrpSpPr>
        <p:grpSpPr>
          <a:xfrm>
            <a:off x="0" y="5046840"/>
            <a:ext cx="9144000" cy="102960"/>
            <a:chOff x="0" y="5046840"/>
            <a:chExt cx="9144000" cy="102960"/>
          </a:xfrm>
        </p:grpSpPr>
        <p:sp>
          <p:nvSpPr>
            <p:cNvPr id="20"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21"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22"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23" name="Picture 10" descr=""/>
          <p:cNvPicPr/>
          <p:nvPr/>
        </p:nvPicPr>
        <p:blipFill>
          <a:blip r:embed="rId1"/>
          <a:stretch/>
        </p:blipFill>
        <p:spPr>
          <a:xfrm>
            <a:off x="8015400" y="34920"/>
            <a:ext cx="728640" cy="677880"/>
          </a:xfrm>
          <a:prstGeom prst="rect">
            <a:avLst/>
          </a:prstGeom>
          <a:noFill/>
          <a:ln w="0">
            <a:noFill/>
          </a:ln>
        </p:spPr>
      </p:pic>
      <p:sp>
        <p:nvSpPr>
          <p:cNvPr id="24" name="TextBox 1"/>
          <p:cNvSpPr/>
          <p:nvPr/>
        </p:nvSpPr>
        <p:spPr>
          <a:xfrm>
            <a:off x="312840" y="34920"/>
            <a:ext cx="7169040" cy="703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Classification of pesticides</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000" strike="noStrike" u="none">
              <a:solidFill>
                <a:srgbClr val="000000"/>
              </a:solidFill>
              <a:uFillTx/>
              <a:latin typeface="Calibri"/>
            </a:endParaRPr>
          </a:p>
        </p:txBody>
      </p:sp>
      <p:sp>
        <p:nvSpPr>
          <p:cNvPr id="25" name="TextBox 2"/>
          <p:cNvSpPr/>
          <p:nvPr/>
        </p:nvSpPr>
        <p:spPr>
          <a:xfrm>
            <a:off x="312840" y="563400"/>
            <a:ext cx="8650080" cy="4363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1.</a:t>
            </a:r>
            <a:r>
              <a:rPr b="0" lang="en-US" sz="1400" strike="noStrike" u="none">
                <a:solidFill>
                  <a:srgbClr val="000000"/>
                </a:solidFill>
                <a:uFillTx/>
                <a:latin typeface="Calibri"/>
              </a:rPr>
              <a:t>	</a:t>
            </a:r>
            <a:r>
              <a:rPr b="1" lang="en-US" sz="1400" strike="noStrike" u="none">
                <a:solidFill>
                  <a:srgbClr val="000000"/>
                </a:solidFill>
                <a:uFillTx/>
                <a:latin typeface="Calibri"/>
              </a:rPr>
              <a:t>Acaricides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ticks and mites Ex. Sulphur and lime sulphur</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2.</a:t>
            </a:r>
            <a:r>
              <a:rPr b="0" lang="en-US" sz="1400" strike="noStrike" u="none">
                <a:solidFill>
                  <a:srgbClr val="000000"/>
                </a:solidFill>
                <a:uFillTx/>
                <a:latin typeface="Calibri"/>
              </a:rPr>
              <a:t>	</a:t>
            </a:r>
            <a:r>
              <a:rPr b="1" lang="en-US" sz="1400" strike="noStrike" u="none">
                <a:solidFill>
                  <a:srgbClr val="000000"/>
                </a:solidFill>
                <a:uFillTx/>
                <a:latin typeface="Calibri"/>
              </a:rPr>
              <a:t>Algicides </a:t>
            </a:r>
            <a:r>
              <a:rPr b="1"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Algae and other aquatic vegetation Ex. </a:t>
            </a:r>
            <a:r>
              <a:rPr b="1" lang="en-US" sz="1400" strike="noStrike" u="none">
                <a:solidFill>
                  <a:srgbClr val="000000"/>
                </a:solidFill>
                <a:uFillTx/>
                <a:latin typeface="Calibri"/>
              </a:rPr>
              <a:t>Copper sulphate</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3.</a:t>
            </a:r>
            <a:r>
              <a:rPr b="0" lang="en-US" sz="1400" strike="noStrike" u="none">
                <a:solidFill>
                  <a:srgbClr val="000000"/>
                </a:solidFill>
                <a:uFillTx/>
                <a:latin typeface="Calibri"/>
              </a:rPr>
              <a:t>	</a:t>
            </a:r>
            <a:r>
              <a:rPr b="1" lang="en-US" sz="1400" strike="noStrike" u="none">
                <a:solidFill>
                  <a:srgbClr val="000000"/>
                </a:solidFill>
                <a:uFillTx/>
                <a:latin typeface="Calibri"/>
              </a:rPr>
              <a:t>Antiseptics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Non metals from microorganisms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1" lang="en-US" sz="1400" strike="noStrike" u="none">
                <a:solidFill>
                  <a:srgbClr val="000000"/>
                </a:solidFill>
                <a:uFillTx/>
                <a:latin typeface="Calibri"/>
              </a:rPr>
              <a:t>Ex. Phenol, mercuric chlorosis</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4.</a:t>
            </a:r>
            <a:r>
              <a:rPr b="0" lang="en-US" sz="1400" strike="noStrike" u="none">
                <a:solidFill>
                  <a:srgbClr val="000000"/>
                </a:solidFill>
                <a:uFillTx/>
                <a:latin typeface="Calibri"/>
              </a:rPr>
              <a:t>	</a:t>
            </a:r>
            <a:r>
              <a:rPr b="1" lang="en-US" sz="1400" strike="noStrike" u="none">
                <a:solidFill>
                  <a:srgbClr val="000000"/>
                </a:solidFill>
                <a:uFillTx/>
                <a:latin typeface="Calibri"/>
              </a:rPr>
              <a:t>Arboricides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Undesirable arborell (Vegetative part) and bushy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vegetation. </a:t>
            </a:r>
            <a:r>
              <a:rPr b="1" lang="en-US" sz="1400" strike="noStrike" u="none">
                <a:solidFill>
                  <a:srgbClr val="000000"/>
                </a:solidFill>
                <a:uFillTx/>
                <a:latin typeface="Calibri"/>
              </a:rPr>
              <a:t>Ex. Sulphuric acid, copper sulphate</a:t>
            </a:r>
            <a:r>
              <a:rPr b="0" lang="en-US" sz="1400" strike="noStrike" u="none">
                <a:solidFill>
                  <a:srgbClr val="000000"/>
                </a:solidFill>
                <a:uFillTx/>
                <a:latin typeface="Calibri"/>
              </a:rPr>
              <a:t>.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5.</a:t>
            </a:r>
            <a:r>
              <a:rPr b="0" lang="en-US" sz="1400" strike="noStrike" u="none">
                <a:solidFill>
                  <a:srgbClr val="000000"/>
                </a:solidFill>
                <a:uFillTx/>
                <a:latin typeface="Calibri"/>
              </a:rPr>
              <a:t>	</a:t>
            </a:r>
            <a:r>
              <a:rPr b="1" lang="en-US" sz="1400" strike="noStrike" u="none">
                <a:solidFill>
                  <a:srgbClr val="000000"/>
                </a:solidFill>
                <a:uFillTx/>
                <a:latin typeface="Calibri"/>
              </a:rPr>
              <a:t>Bactericides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Bacteria and bacterial diseases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1" lang="en-US" sz="1400" strike="noStrike" u="none">
                <a:solidFill>
                  <a:srgbClr val="000000"/>
                </a:solidFill>
                <a:uFillTx/>
                <a:latin typeface="Calibri"/>
              </a:rPr>
              <a:t>Ex. Penicillin, streptomacin.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6.</a:t>
            </a:r>
            <a:r>
              <a:rPr b="0" lang="en-US" sz="1400" strike="noStrike" u="none">
                <a:solidFill>
                  <a:srgbClr val="000000"/>
                </a:solidFill>
                <a:uFillTx/>
                <a:latin typeface="Calibri"/>
              </a:rPr>
              <a:t>	</a:t>
            </a:r>
            <a:r>
              <a:rPr b="1" lang="en-US" sz="1400" strike="noStrike" u="none">
                <a:solidFill>
                  <a:srgbClr val="000000"/>
                </a:solidFill>
                <a:uFillTx/>
                <a:latin typeface="Calibri"/>
              </a:rPr>
              <a:t>Fungicides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Plant diseases caused by various fungi.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1" lang="en-US" sz="1400" strike="noStrike" u="none">
                <a:solidFill>
                  <a:srgbClr val="000000"/>
                </a:solidFill>
                <a:uFillTx/>
                <a:latin typeface="Calibri"/>
              </a:rPr>
              <a:t>Ex. Bordeax mixture</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7.</a:t>
            </a:r>
            <a:r>
              <a:rPr b="0" lang="en-US" sz="1400" strike="noStrike" u="none">
                <a:solidFill>
                  <a:srgbClr val="000000"/>
                </a:solidFill>
                <a:uFillTx/>
                <a:latin typeface="Calibri"/>
              </a:rPr>
              <a:t>	</a:t>
            </a:r>
            <a:r>
              <a:rPr b="1" lang="en-US" sz="1400" strike="noStrike" u="none">
                <a:solidFill>
                  <a:srgbClr val="000000"/>
                </a:solidFill>
                <a:uFillTx/>
                <a:latin typeface="Calibri"/>
              </a:rPr>
              <a:t>Herbicides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Control of weeds  </a:t>
            </a:r>
            <a:r>
              <a:rPr b="1" lang="en-US" sz="1400" strike="noStrike" u="none">
                <a:solidFill>
                  <a:srgbClr val="000000"/>
                </a:solidFill>
                <a:uFillTx/>
                <a:latin typeface="Calibri"/>
              </a:rPr>
              <a:t>Ex 2-4-D, 2-4—5-T, Diurea.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8.</a:t>
            </a:r>
            <a:r>
              <a:rPr b="0" lang="en-US" sz="1400" strike="noStrike" u="none">
                <a:solidFill>
                  <a:srgbClr val="000000"/>
                </a:solidFill>
                <a:uFillTx/>
                <a:latin typeface="Calibri"/>
              </a:rPr>
              <a:t>	</a:t>
            </a:r>
            <a:r>
              <a:rPr b="1" lang="en-US" sz="1400" strike="noStrike" u="none">
                <a:solidFill>
                  <a:srgbClr val="000000"/>
                </a:solidFill>
                <a:uFillTx/>
                <a:latin typeface="Calibri"/>
              </a:rPr>
              <a:t>Insecticides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Harmful insect  </a:t>
            </a:r>
            <a:r>
              <a:rPr b="1" lang="en-US" sz="1400" strike="noStrike" u="none">
                <a:solidFill>
                  <a:srgbClr val="000000"/>
                </a:solidFill>
                <a:uFillTx/>
                <a:latin typeface="Calibri"/>
              </a:rPr>
              <a:t>Ex Endosulphan, carbaryl.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9.</a:t>
            </a:r>
            <a:r>
              <a:rPr b="0" lang="en-US" sz="1400" strike="noStrike" u="none">
                <a:solidFill>
                  <a:srgbClr val="000000"/>
                </a:solidFill>
                <a:uFillTx/>
                <a:latin typeface="Calibri"/>
              </a:rPr>
              <a:t>	</a:t>
            </a:r>
            <a:r>
              <a:rPr b="1" lang="en-US" sz="1400" strike="noStrike" u="none">
                <a:solidFill>
                  <a:srgbClr val="000000"/>
                </a:solidFill>
                <a:uFillTx/>
                <a:latin typeface="Calibri"/>
              </a:rPr>
              <a:t>Molluscides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Climacides – soft bodjed insects like snails and slug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1" lang="en-US" sz="1400" strike="noStrike" u="none">
                <a:solidFill>
                  <a:srgbClr val="000000"/>
                </a:solidFill>
                <a:uFillTx/>
                <a:latin typeface="Calibri"/>
              </a:rPr>
              <a:t>Ex. Metal dehyde.</a:t>
            </a:r>
            <a:r>
              <a:rPr b="0" lang="en-US" sz="1400" strike="noStrike" u="none">
                <a:solidFill>
                  <a:srgbClr val="000000"/>
                </a:solidFill>
                <a:uFillTx/>
                <a:latin typeface="Calibri"/>
              </a:rPr>
              <a:t>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10.</a:t>
            </a:r>
            <a:r>
              <a:rPr b="0" lang="en-US" sz="1400" strike="noStrike" u="none">
                <a:solidFill>
                  <a:srgbClr val="000000"/>
                </a:solidFill>
                <a:uFillTx/>
                <a:latin typeface="Calibri"/>
              </a:rPr>
              <a:t>	</a:t>
            </a:r>
            <a:r>
              <a:rPr b="1" lang="en-US" sz="1400" strike="noStrike" u="none">
                <a:solidFill>
                  <a:srgbClr val="000000"/>
                </a:solidFill>
                <a:uFillTx/>
                <a:latin typeface="Calibri"/>
              </a:rPr>
              <a:t>Nematicides</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Control of nematode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1" lang="en-US" sz="1400" strike="noStrike" u="none">
                <a:solidFill>
                  <a:srgbClr val="000000"/>
                </a:solidFill>
                <a:uFillTx/>
                <a:latin typeface="Calibri"/>
              </a:rPr>
              <a:t>Ex. Methyle bromide and other fumig</a:t>
            </a:r>
            <a:r>
              <a:rPr b="0" lang="en-US" sz="1400" strike="noStrike" u="none">
                <a:solidFill>
                  <a:srgbClr val="000000"/>
                </a:solidFill>
                <a:uFillTx/>
                <a:latin typeface="Calibri"/>
              </a:rPr>
              <a:t>ants.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11.</a:t>
            </a:r>
            <a:r>
              <a:rPr b="0" lang="en-US" sz="1400" strike="noStrike" u="none">
                <a:solidFill>
                  <a:srgbClr val="000000"/>
                </a:solidFill>
                <a:uFillTx/>
                <a:latin typeface="Calibri"/>
              </a:rPr>
              <a:t>	</a:t>
            </a:r>
            <a:r>
              <a:rPr b="1" lang="en-US" sz="1400" strike="noStrike" u="none">
                <a:solidFill>
                  <a:srgbClr val="000000"/>
                </a:solidFill>
                <a:uFillTx/>
                <a:latin typeface="Calibri"/>
              </a:rPr>
              <a:t>Zoocides</a:t>
            </a:r>
            <a:r>
              <a:rPr b="1"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0" lang="en-US" sz="1400" strike="noStrike" u="none">
                <a:solidFill>
                  <a:srgbClr val="000000"/>
                </a:solidFill>
                <a:uFillTx/>
                <a:latin typeface="Calibri"/>
              </a:rPr>
              <a:t>Control of rodents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	</a:t>
            </a:r>
            <a:r>
              <a:rPr b="1" lang="en-US" sz="1400" strike="noStrike" u="none">
                <a:solidFill>
                  <a:srgbClr val="000000"/>
                </a:solidFill>
                <a:uFillTx/>
                <a:latin typeface="Calibri"/>
              </a:rPr>
              <a:t>(Rodenticides)</a:t>
            </a:r>
            <a:r>
              <a:rPr b="0" lang="en-US" sz="1400" strike="noStrike" u="none">
                <a:solidFill>
                  <a:srgbClr val="000000"/>
                </a:solidFill>
                <a:uFillTx/>
                <a:latin typeface="Calibri"/>
              </a:rPr>
              <a:t>	</a:t>
            </a:r>
            <a:r>
              <a:rPr b="0" lang="en-US" sz="1400" strike="noStrike" u="none">
                <a:solidFill>
                  <a:srgbClr val="000000"/>
                </a:solidFill>
                <a:uFillTx/>
                <a:latin typeface="Calibri"/>
              </a:rPr>
              <a:t>	</a:t>
            </a:r>
            <a:r>
              <a:rPr b="1" lang="en-US" sz="1400" strike="noStrike" u="none">
                <a:solidFill>
                  <a:srgbClr val="000000"/>
                </a:solidFill>
                <a:uFillTx/>
                <a:latin typeface="Calibri"/>
              </a:rPr>
              <a:t>Ex. Zinc phosphate, vartarin.</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400" strike="noStrike" u="none">
                <a:solidFill>
                  <a:srgbClr val="000000"/>
                </a:solidFill>
                <a:uFillTx/>
                <a:latin typeface="Calibri"/>
              </a:rPr>
              <a:t>12.</a:t>
            </a:r>
            <a:r>
              <a:rPr b="0" lang="en-US" sz="1400" strike="noStrike" u="none">
                <a:solidFill>
                  <a:srgbClr val="000000"/>
                </a:solidFill>
                <a:uFillTx/>
                <a:latin typeface="Calibri"/>
              </a:rPr>
              <a:t>	</a:t>
            </a:r>
            <a:r>
              <a:rPr b="1" lang="en-US" sz="1400" strike="noStrike" u="none">
                <a:solidFill>
                  <a:srgbClr val="000000"/>
                </a:solidFill>
                <a:uFillTx/>
                <a:latin typeface="Calibri"/>
              </a:rPr>
              <a:t>Pesticides </a:t>
            </a:r>
            <a:r>
              <a:rPr b="0" lang="en-US" sz="1400" strike="noStrike" u="none">
                <a:solidFill>
                  <a:srgbClr val="000000"/>
                </a:solidFill>
                <a:uFillTx/>
                <a:latin typeface="Calibri"/>
              </a:rPr>
              <a:t>	</a:t>
            </a:r>
            <a:r>
              <a:rPr b="0" lang="en-US" sz="1400" strike="noStrike" u="none">
                <a:solidFill>
                  <a:srgbClr val="000000"/>
                </a:solidFill>
                <a:uFillTx/>
                <a:latin typeface="Calibri"/>
              </a:rPr>
              <a:t>-</a:t>
            </a:r>
            <a:r>
              <a:rPr b="0" lang="en-US" sz="1400" strike="noStrike" u="none">
                <a:solidFill>
                  <a:srgbClr val="000000"/>
                </a:solidFill>
                <a:uFillTx/>
                <a:latin typeface="Calibri"/>
              </a:rPr>
              <a:t>	</a:t>
            </a:r>
            <a:r>
              <a:rPr b="0" lang="en-US" sz="1400" strike="noStrike" u="none">
                <a:solidFill>
                  <a:srgbClr val="000000"/>
                </a:solidFill>
                <a:uFillTx/>
                <a:latin typeface="Calibri"/>
              </a:rPr>
              <a:t>to kill the fish </a:t>
            </a:r>
            <a:r>
              <a:rPr b="1" lang="en-US" sz="1400" strike="noStrike" u="none">
                <a:solidFill>
                  <a:srgbClr val="000000"/>
                </a:solidFill>
                <a:uFillTx/>
                <a:latin typeface="Calibri"/>
              </a:rPr>
              <a:t>Ex. Rotenoue. </a:t>
            </a:r>
            <a:endParaRPr b="0" lang="en-US" sz="1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4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6" name="Group 5"/>
          <p:cNvGrpSpPr/>
          <p:nvPr/>
        </p:nvGrpSpPr>
        <p:grpSpPr>
          <a:xfrm>
            <a:off x="0" y="5046840"/>
            <a:ext cx="9144000" cy="102960"/>
            <a:chOff x="0" y="5046840"/>
            <a:chExt cx="9144000" cy="102960"/>
          </a:xfrm>
        </p:grpSpPr>
        <p:sp>
          <p:nvSpPr>
            <p:cNvPr id="27"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28"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29"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30" name="Picture 10" descr=""/>
          <p:cNvPicPr/>
          <p:nvPr/>
        </p:nvPicPr>
        <p:blipFill>
          <a:blip r:embed="rId1"/>
          <a:stretch/>
        </p:blipFill>
        <p:spPr>
          <a:xfrm>
            <a:off x="8015400" y="34920"/>
            <a:ext cx="728640" cy="677880"/>
          </a:xfrm>
          <a:prstGeom prst="rect">
            <a:avLst/>
          </a:prstGeom>
          <a:noFill/>
          <a:ln w="0">
            <a:noFill/>
          </a:ln>
        </p:spPr>
      </p:pic>
      <p:sp>
        <p:nvSpPr>
          <p:cNvPr id="31" name="TextBox 1"/>
          <p:cNvSpPr/>
          <p:nvPr/>
        </p:nvSpPr>
        <p:spPr>
          <a:xfrm>
            <a:off x="289080" y="1179360"/>
            <a:ext cx="8300880" cy="31431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Adjutants and others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1.</a:t>
            </a:r>
            <a:r>
              <a:rPr b="0" lang="en-US" sz="2000" strike="noStrike" u="none">
                <a:solidFill>
                  <a:srgbClr val="000000"/>
                </a:solidFill>
                <a:uFillTx/>
                <a:latin typeface="Calibri"/>
              </a:rPr>
              <a:t>	</a:t>
            </a:r>
            <a:r>
              <a:rPr b="1" lang="en-US" sz="2000" strike="noStrike" u="none">
                <a:solidFill>
                  <a:srgbClr val="000000"/>
                </a:solidFill>
                <a:uFillTx/>
                <a:latin typeface="Calibri"/>
              </a:rPr>
              <a:t>Chemosterilants</a:t>
            </a:r>
            <a:r>
              <a:rPr b="0" lang="en-US" sz="2000" strike="noStrike" u="none">
                <a:solidFill>
                  <a:srgbClr val="000000"/>
                </a:solidFill>
                <a:uFillTx/>
                <a:latin typeface="Calibri"/>
              </a:rPr>
              <a:t> -</a:t>
            </a:r>
            <a:r>
              <a:rPr b="0" lang="en-US" sz="2000" strike="noStrike" u="none">
                <a:solidFill>
                  <a:srgbClr val="000000"/>
                </a:solidFill>
                <a:uFillTx/>
                <a:latin typeface="Calibri"/>
              </a:rPr>
              <a:t>	</a:t>
            </a:r>
            <a:r>
              <a:rPr b="0" lang="en-US" sz="2000" strike="noStrike" u="none">
                <a:solidFill>
                  <a:srgbClr val="000000"/>
                </a:solidFill>
                <a:uFillTx/>
                <a:latin typeface="Calibri"/>
              </a:rPr>
              <a:t>Used to reduce or completely suppress the reproductive ability of insects Ex. Abholate, Treatamine.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2.</a:t>
            </a:r>
            <a:r>
              <a:rPr b="0" lang="en-US" sz="2000" strike="noStrike" u="none">
                <a:solidFill>
                  <a:srgbClr val="000000"/>
                </a:solidFill>
                <a:uFillTx/>
                <a:latin typeface="Calibri"/>
              </a:rPr>
              <a:t>	</a:t>
            </a:r>
            <a:r>
              <a:rPr b="1" lang="en-US" sz="2000" strike="noStrike" u="none">
                <a:solidFill>
                  <a:srgbClr val="000000"/>
                </a:solidFill>
                <a:uFillTx/>
                <a:latin typeface="Calibri"/>
              </a:rPr>
              <a:t>Plant growth regulators </a:t>
            </a:r>
            <a:r>
              <a:rPr b="0" lang="en-US" sz="2000" strike="noStrike" u="none">
                <a:solidFill>
                  <a:srgbClr val="000000"/>
                </a:solidFill>
                <a:uFillTx/>
                <a:latin typeface="Calibri"/>
              </a:rPr>
              <a:t>– used for regulate the growth of plant or supress the growth, rooting, ripening of fruits etc. Ex. G.A., IAA, IBA, Cycocel, Ethapon.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3.</a:t>
            </a:r>
            <a:r>
              <a:rPr b="0" lang="en-US" sz="2000" strike="noStrike" u="none">
                <a:solidFill>
                  <a:srgbClr val="000000"/>
                </a:solidFill>
                <a:uFillTx/>
                <a:latin typeface="Calibri"/>
              </a:rPr>
              <a:t>	</a:t>
            </a:r>
            <a:r>
              <a:rPr b="1" lang="en-US" sz="2000" strike="noStrike" u="none">
                <a:solidFill>
                  <a:srgbClr val="000000"/>
                </a:solidFill>
                <a:uFillTx/>
                <a:latin typeface="Calibri"/>
              </a:rPr>
              <a:t>Defoliants </a:t>
            </a:r>
            <a:r>
              <a:rPr b="0" lang="en-US" sz="2000" strike="noStrike" u="none">
                <a:solidFill>
                  <a:srgbClr val="000000"/>
                </a:solidFill>
                <a:uFillTx/>
                <a:latin typeface="Calibri"/>
              </a:rPr>
              <a:t>	</a:t>
            </a:r>
            <a:r>
              <a:rPr b="0" lang="en-US" sz="2000" strike="noStrike" u="none">
                <a:solidFill>
                  <a:srgbClr val="000000"/>
                </a:solidFill>
                <a:uFillTx/>
                <a:latin typeface="Calibri"/>
              </a:rPr>
              <a:t>-</a:t>
            </a:r>
            <a:r>
              <a:rPr b="0" lang="en-US" sz="2000" strike="noStrike" u="none">
                <a:solidFill>
                  <a:srgbClr val="000000"/>
                </a:solidFill>
                <a:uFillTx/>
                <a:latin typeface="Calibri"/>
              </a:rPr>
              <a:t>	</a:t>
            </a:r>
            <a:r>
              <a:rPr b="0" lang="en-US" sz="2000" strike="noStrike" u="none">
                <a:solidFill>
                  <a:srgbClr val="000000"/>
                </a:solidFill>
                <a:uFillTx/>
                <a:latin typeface="Calibri"/>
              </a:rPr>
              <a:t>Removal of leaves. Ex. Sodium chlorate, Magnesium chlorate, sodium polyborate and folex.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4.</a:t>
            </a:r>
            <a:r>
              <a:rPr b="0" lang="en-US" sz="2000" strike="noStrike" u="none">
                <a:solidFill>
                  <a:srgbClr val="000000"/>
                </a:solidFill>
                <a:uFillTx/>
                <a:latin typeface="Calibri"/>
              </a:rPr>
              <a:t>	</a:t>
            </a:r>
            <a:r>
              <a:rPr b="1" lang="en-US" sz="2000" strike="noStrike" u="none">
                <a:solidFill>
                  <a:srgbClr val="000000"/>
                </a:solidFill>
                <a:uFillTx/>
                <a:latin typeface="Calibri"/>
              </a:rPr>
              <a:t>Repellants</a:t>
            </a:r>
            <a:r>
              <a:rPr b="0" lang="en-US" sz="2000" strike="noStrike" u="none">
                <a:solidFill>
                  <a:srgbClr val="000000"/>
                </a:solidFill>
                <a:uFillTx/>
                <a:latin typeface="Calibri"/>
              </a:rPr>
              <a:t> </a:t>
            </a:r>
            <a:r>
              <a:rPr b="0" lang="en-US" sz="2000" strike="noStrike" u="none">
                <a:solidFill>
                  <a:srgbClr val="000000"/>
                </a:solidFill>
                <a:uFillTx/>
                <a:latin typeface="Calibri"/>
              </a:rPr>
              <a:t>	</a:t>
            </a:r>
            <a:r>
              <a:rPr b="0" lang="en-US" sz="2000" strike="noStrike" u="none">
                <a:solidFill>
                  <a:srgbClr val="000000"/>
                </a:solidFill>
                <a:uFillTx/>
                <a:latin typeface="Calibri"/>
              </a:rPr>
              <a:t>-</a:t>
            </a:r>
            <a:r>
              <a:rPr b="0" lang="en-US" sz="2000" strike="noStrike" u="none">
                <a:solidFill>
                  <a:srgbClr val="000000"/>
                </a:solidFill>
                <a:uFillTx/>
                <a:latin typeface="Calibri"/>
              </a:rPr>
              <a:t>	</a:t>
            </a:r>
            <a:r>
              <a:rPr b="0" lang="en-US" sz="2000" strike="noStrike" u="none">
                <a:solidFill>
                  <a:srgbClr val="000000"/>
                </a:solidFill>
                <a:uFillTx/>
                <a:latin typeface="Calibri"/>
              </a:rPr>
              <a:t>For repelling insects Ex. Delphone, Indalone.</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5.</a:t>
            </a:r>
            <a:r>
              <a:rPr b="0" lang="en-US" sz="2000" strike="noStrike" u="none">
                <a:solidFill>
                  <a:srgbClr val="000000"/>
                </a:solidFill>
                <a:uFillTx/>
                <a:latin typeface="Calibri"/>
              </a:rPr>
              <a:t>	</a:t>
            </a:r>
            <a:r>
              <a:rPr b="1" lang="en-US" sz="2000" strike="noStrike" u="none">
                <a:solidFill>
                  <a:srgbClr val="000000"/>
                </a:solidFill>
                <a:uFillTx/>
                <a:latin typeface="Calibri"/>
              </a:rPr>
              <a:t>Attractant</a:t>
            </a:r>
            <a:r>
              <a:rPr b="0" lang="en-US" sz="2000" strike="noStrike" u="none">
                <a:solidFill>
                  <a:srgbClr val="000000"/>
                </a:solidFill>
                <a:uFillTx/>
                <a:latin typeface="Calibri"/>
              </a:rPr>
              <a:t>	</a:t>
            </a:r>
            <a:r>
              <a:rPr b="0" lang="en-US" sz="2000" strike="noStrike" u="none">
                <a:solidFill>
                  <a:srgbClr val="000000"/>
                </a:solidFill>
                <a:uFillTx/>
                <a:latin typeface="Calibri"/>
              </a:rPr>
              <a:t>-</a:t>
            </a:r>
            <a:r>
              <a:rPr b="0" lang="en-US" sz="2000" strike="noStrike" u="none">
                <a:solidFill>
                  <a:srgbClr val="000000"/>
                </a:solidFill>
                <a:uFillTx/>
                <a:latin typeface="Calibri"/>
              </a:rPr>
              <a:t>	</a:t>
            </a:r>
            <a:r>
              <a:rPr b="0" lang="en-US" sz="2000" strike="noStrike" u="none">
                <a:solidFill>
                  <a:srgbClr val="000000"/>
                </a:solidFill>
                <a:uFillTx/>
                <a:latin typeface="Calibri"/>
              </a:rPr>
              <a:t>For attracting insects Ex. Muscalure, Disparlure</a:t>
            </a:r>
            <a:endParaRPr b="0" lang="en-US" sz="20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2" name="Group 5"/>
          <p:cNvGrpSpPr/>
          <p:nvPr/>
        </p:nvGrpSpPr>
        <p:grpSpPr>
          <a:xfrm>
            <a:off x="0" y="5046840"/>
            <a:ext cx="9144000" cy="102960"/>
            <a:chOff x="0" y="5046840"/>
            <a:chExt cx="9144000" cy="102960"/>
          </a:xfrm>
        </p:grpSpPr>
        <p:sp>
          <p:nvSpPr>
            <p:cNvPr id="33"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34"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35"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36" name="Picture 10" descr=""/>
          <p:cNvPicPr/>
          <p:nvPr/>
        </p:nvPicPr>
        <p:blipFill>
          <a:blip r:embed="rId1"/>
          <a:stretch/>
        </p:blipFill>
        <p:spPr>
          <a:xfrm>
            <a:off x="8015400" y="34920"/>
            <a:ext cx="728640" cy="677880"/>
          </a:xfrm>
          <a:prstGeom prst="rect">
            <a:avLst/>
          </a:prstGeom>
          <a:noFill/>
          <a:ln w="0">
            <a:noFill/>
          </a:ln>
        </p:spPr>
      </p:pic>
      <p:sp>
        <p:nvSpPr>
          <p:cNvPr id="37" name="TextBox 1"/>
          <p:cNvSpPr/>
          <p:nvPr/>
        </p:nvSpPr>
        <p:spPr>
          <a:xfrm>
            <a:off x="289080" y="0"/>
            <a:ext cx="875808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LECT 25-27 : Botanical insecticides (neem) pyrethrum, synthetic Pyrethroids,</a:t>
            </a:r>
            <a:endParaRPr b="0" lang="en-US" sz="2000" strike="noStrike" u="none">
              <a:solidFill>
                <a:srgbClr val="000000"/>
              </a:solidFill>
              <a:uFillTx/>
              <a:latin typeface="Calibri"/>
            </a:endParaRPr>
          </a:p>
        </p:txBody>
      </p:sp>
      <p:sp>
        <p:nvSpPr>
          <p:cNvPr id="38" name="TextBox 2"/>
          <p:cNvSpPr/>
          <p:nvPr/>
        </p:nvSpPr>
        <p:spPr>
          <a:xfrm>
            <a:off x="289080" y="349200"/>
            <a:ext cx="8854920" cy="47246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Synthetic pyrethroids.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Pyrethroids are essentially ester compouonds Attempt to replace the ester with other linkages had reduced the inescticidal activity.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Type I – Pyrethrins, allethnins, resmethrin, phenothin, permethrin and oxime others.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Type II -  Expermethrin, fenvalerate, deltamethrin.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Insecticides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Definitions – </a:t>
            </a:r>
            <a:r>
              <a:rPr b="0" lang="en-US" sz="1600" strike="noStrike" u="none">
                <a:solidFill>
                  <a:srgbClr val="000000"/>
                </a:solidFill>
                <a:uFillTx/>
                <a:latin typeface="Calibri"/>
              </a:rPr>
              <a:t>Chemicals used for the control of harmful insects. </a:t>
            </a:r>
            <a:r>
              <a:rPr b="1" lang="en-US" sz="1600" strike="noStrike" u="none">
                <a:solidFill>
                  <a:srgbClr val="000000"/>
                </a:solidFill>
                <a:uFillTx/>
                <a:latin typeface="Calibri"/>
              </a:rPr>
              <a:t>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Classification of insecticides</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A)On the basis of chemical nature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fr-FR" sz="1600" strike="noStrike" u="none">
                <a:solidFill>
                  <a:srgbClr val="000000"/>
                </a:solidFill>
                <a:uFillTx/>
                <a:latin typeface="Calibri"/>
              </a:rPr>
              <a:t>a.Inorganic – Ex – arsenates, fluorides compounds.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b.Organic insecticides.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1.Oils and soaps – Petroleum products</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2.Plant origine – Nicotine, Geraniol, pyrethrum and Rotenon.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3.Synthetic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a.Chlorinated hydrocarbons – DDT, HCH, Heptachlor, aldrin etc. (CH &amp; Cl)</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b.Organophosphorus (C, H, O &amp;, P, S) Malathion, parathion and Dematphosphamidon.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c.Carbonate insecticides – Carboryl, carbofuran. d.Pyrethoids – Allethrin, permethrin, eltametrin.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e.Miscellaneous Insecticides – Karathane, DNOC.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9" name="Group 5"/>
          <p:cNvGrpSpPr/>
          <p:nvPr/>
        </p:nvGrpSpPr>
        <p:grpSpPr>
          <a:xfrm>
            <a:off x="0" y="5046840"/>
            <a:ext cx="9144000" cy="102960"/>
            <a:chOff x="0" y="5046840"/>
            <a:chExt cx="9144000" cy="102960"/>
          </a:xfrm>
        </p:grpSpPr>
        <p:sp>
          <p:nvSpPr>
            <p:cNvPr id="40"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41"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42"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43" name="Picture 10" descr=""/>
          <p:cNvPicPr/>
          <p:nvPr/>
        </p:nvPicPr>
        <p:blipFill>
          <a:blip r:embed="rId1"/>
          <a:stretch/>
        </p:blipFill>
        <p:spPr>
          <a:xfrm>
            <a:off x="8015400" y="34920"/>
            <a:ext cx="728640" cy="677880"/>
          </a:xfrm>
          <a:prstGeom prst="rect">
            <a:avLst/>
          </a:prstGeom>
          <a:noFill/>
          <a:ln w="0">
            <a:noFill/>
          </a:ln>
        </p:spPr>
      </p:pic>
      <p:sp>
        <p:nvSpPr>
          <p:cNvPr id="44" name="TextBox 1"/>
          <p:cNvSpPr/>
          <p:nvPr/>
        </p:nvSpPr>
        <p:spPr>
          <a:xfrm>
            <a:off x="336600" y="712800"/>
            <a:ext cx="8313840" cy="4404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Plant Originated Insecticides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Nicotine – 3 (1-Methyl –2 pyrrolidyl) pyridine) Alkaloid present in the leaves of Nicotiana sp.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Nicotine (C</a:t>
            </a:r>
            <a:r>
              <a:rPr b="0" lang="en-US" sz="2000" strike="noStrike" u="none" baseline="-25000">
                <a:solidFill>
                  <a:srgbClr val="000000"/>
                </a:solidFill>
                <a:uFillTx/>
                <a:latin typeface="Calibri"/>
              </a:rPr>
              <a:t>10</a:t>
            </a:r>
            <a:r>
              <a:rPr b="0" lang="en-US" sz="2000" strike="noStrike" u="none">
                <a:solidFill>
                  <a:srgbClr val="000000"/>
                </a:solidFill>
                <a:uFillTx/>
                <a:latin typeface="Calibri"/>
              </a:rPr>
              <a:t>H</a:t>
            </a:r>
            <a:r>
              <a:rPr b="0" lang="en-US" sz="2000" strike="noStrike" u="none" baseline="-25000">
                <a:solidFill>
                  <a:srgbClr val="000000"/>
                </a:solidFill>
                <a:uFillTx/>
                <a:latin typeface="Calibri"/>
              </a:rPr>
              <a:t>14</a:t>
            </a:r>
            <a:r>
              <a:rPr b="0" lang="en-US" sz="2000" strike="noStrike" u="none">
                <a:solidFill>
                  <a:srgbClr val="000000"/>
                </a:solidFill>
                <a:uFillTx/>
                <a:latin typeface="Calibri"/>
              </a:rPr>
              <a:t>N</a:t>
            </a:r>
            <a:r>
              <a:rPr b="0" lang="en-US" sz="2000" strike="noStrike" u="none" baseline="-25000">
                <a:solidFill>
                  <a:srgbClr val="000000"/>
                </a:solidFill>
                <a:uFillTx/>
                <a:latin typeface="Calibri"/>
              </a:rPr>
              <a:t>2</a:t>
            </a:r>
            <a:r>
              <a:rPr b="0" lang="en-US" sz="2000" strike="noStrike" u="none">
                <a:solidFill>
                  <a:srgbClr val="000000"/>
                </a:solidFill>
                <a:uFillTx/>
                <a:latin typeface="Calibri"/>
              </a:rPr>
              <a:t>) – (N-methyl-2, 3 (Pyridyl) Pyrollidine ring give structure of Nicotine.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	</a:t>
            </a:r>
            <a:r>
              <a:rPr b="1" lang="en-US" sz="2000" strike="noStrike" u="none">
                <a:solidFill>
                  <a:srgbClr val="000000"/>
                </a:solidFill>
                <a:uFillTx/>
                <a:latin typeface="Calibri"/>
              </a:rPr>
              <a:t>Occurrence </a:t>
            </a:r>
            <a:r>
              <a:rPr b="0" lang="en-US" sz="2000" strike="noStrike" u="none">
                <a:solidFill>
                  <a:srgbClr val="000000"/>
                </a:solidFill>
                <a:uFillTx/>
                <a:latin typeface="Calibri"/>
              </a:rPr>
              <a:t>– occurs from solanaceous genera plant i.e. Tobacco propperties – Give properties.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	</a:t>
            </a:r>
            <a:r>
              <a:rPr b="1" lang="en-US" sz="2000" strike="noStrike" u="none">
                <a:solidFill>
                  <a:srgbClr val="000000"/>
                </a:solidFill>
                <a:uFillTx/>
                <a:latin typeface="Calibri"/>
              </a:rPr>
              <a:t>Mode of action </a:t>
            </a:r>
            <a:r>
              <a:rPr b="0" lang="en-US" sz="2000" strike="noStrike" u="none">
                <a:solidFill>
                  <a:srgbClr val="000000"/>
                </a:solidFill>
                <a:uFillTx/>
                <a:latin typeface="Calibri"/>
              </a:rPr>
              <a:t>– contact insecticides and also fumigant.  It enters in insect through spiracle in the tracheal system.  Nicstice is highly toxic by injection, inhalation and skin absorption.  It is an automatic blocking agent and acts like acetyl choline but only at gunglia and neuro muscular junctions, initially stimulating then depressing then symptoms are ercitation conclusion paralysis and death.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0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5" name="Group 5"/>
          <p:cNvGrpSpPr/>
          <p:nvPr/>
        </p:nvGrpSpPr>
        <p:grpSpPr>
          <a:xfrm>
            <a:off x="0" y="5046840"/>
            <a:ext cx="9144000" cy="102960"/>
            <a:chOff x="0" y="5046840"/>
            <a:chExt cx="9144000" cy="102960"/>
          </a:xfrm>
        </p:grpSpPr>
        <p:sp>
          <p:nvSpPr>
            <p:cNvPr id="46"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47"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48"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49" name="Picture 10" descr=""/>
          <p:cNvPicPr/>
          <p:nvPr/>
        </p:nvPicPr>
        <p:blipFill>
          <a:blip r:embed="rId1"/>
          <a:stretch/>
        </p:blipFill>
        <p:spPr>
          <a:xfrm>
            <a:off x="8015400" y="34920"/>
            <a:ext cx="728640" cy="677880"/>
          </a:xfrm>
          <a:prstGeom prst="rect">
            <a:avLst/>
          </a:prstGeom>
          <a:noFill/>
          <a:ln w="0">
            <a:noFill/>
          </a:ln>
        </p:spPr>
      </p:pic>
      <p:sp>
        <p:nvSpPr>
          <p:cNvPr id="50" name="TextBox 1"/>
          <p:cNvSpPr/>
          <p:nvPr/>
        </p:nvSpPr>
        <p:spPr>
          <a:xfrm>
            <a:off x="312840" y="1035000"/>
            <a:ext cx="8686800" cy="3148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	</a:t>
            </a:r>
            <a:r>
              <a:rPr b="1" lang="en-US" sz="1800" strike="noStrike" u="none">
                <a:solidFill>
                  <a:srgbClr val="000000"/>
                </a:solidFill>
                <a:uFillTx/>
                <a:latin typeface="Calibri"/>
              </a:rPr>
              <a:t>Pyrethrum :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	</a:t>
            </a:r>
            <a:r>
              <a:rPr b="1" lang="en-US" sz="1800" strike="noStrike" u="none">
                <a:solidFill>
                  <a:srgbClr val="000000"/>
                </a:solidFill>
                <a:uFillTx/>
                <a:latin typeface="Calibri"/>
              </a:rPr>
              <a:t>a)</a:t>
            </a:r>
            <a:r>
              <a:rPr b="1" lang="en-US" sz="1800" strike="noStrike" u="none">
                <a:solidFill>
                  <a:srgbClr val="000000"/>
                </a:solidFill>
                <a:uFillTx/>
                <a:latin typeface="Calibri"/>
              </a:rPr>
              <a:t>	</a:t>
            </a:r>
            <a:r>
              <a:rPr b="1" lang="en-US" sz="1800" strike="noStrike" u="none">
                <a:solidFill>
                  <a:srgbClr val="000000"/>
                </a:solidFill>
                <a:uFillTx/>
                <a:latin typeface="Calibri"/>
              </a:rPr>
              <a:t>Structure :</a:t>
            </a:r>
            <a:r>
              <a:rPr b="0" lang="en-US" sz="1800" strike="noStrike" u="none">
                <a:solidFill>
                  <a:srgbClr val="000000"/>
                </a:solidFill>
                <a:uFillTx/>
                <a:latin typeface="Calibri"/>
              </a:rPr>
              <a:t> C</a:t>
            </a:r>
            <a:r>
              <a:rPr b="0" lang="en-US" sz="1800" strike="noStrike" u="none" baseline="-25000">
                <a:solidFill>
                  <a:srgbClr val="000000"/>
                </a:solidFill>
                <a:uFillTx/>
                <a:latin typeface="Calibri"/>
              </a:rPr>
              <a:t>21</a:t>
            </a:r>
            <a:r>
              <a:rPr b="0" lang="en-US" sz="1800" strike="noStrike" u="none">
                <a:solidFill>
                  <a:srgbClr val="000000"/>
                </a:solidFill>
                <a:uFillTx/>
                <a:latin typeface="Calibri"/>
              </a:rPr>
              <a:t>H</a:t>
            </a:r>
            <a:r>
              <a:rPr b="0" lang="en-US" sz="1800" strike="noStrike" u="none" baseline="-25000">
                <a:solidFill>
                  <a:srgbClr val="000000"/>
                </a:solidFill>
                <a:uFillTx/>
                <a:latin typeface="Calibri"/>
              </a:rPr>
              <a:t>28</a:t>
            </a:r>
            <a:r>
              <a:rPr b="0" lang="en-US" sz="1800" strike="noStrike" u="none">
                <a:solidFill>
                  <a:srgbClr val="000000"/>
                </a:solidFill>
                <a:uFillTx/>
                <a:latin typeface="Calibri"/>
              </a:rPr>
              <a:t>O</a:t>
            </a:r>
            <a:r>
              <a:rPr b="0" lang="en-US" sz="1800" strike="noStrike" u="none" baseline="-25000">
                <a:solidFill>
                  <a:srgbClr val="000000"/>
                </a:solidFill>
                <a:uFillTx/>
                <a:latin typeface="Calibri"/>
              </a:rPr>
              <a:t>3</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1" lang="en-US" sz="1800" strike="noStrike" u="none">
                <a:solidFill>
                  <a:srgbClr val="000000"/>
                </a:solidFill>
                <a:uFillTx/>
                <a:latin typeface="Calibri"/>
              </a:rPr>
              <a:t>b)</a:t>
            </a:r>
            <a:r>
              <a:rPr b="1" lang="en-US" sz="1800" strike="noStrike" u="none">
                <a:solidFill>
                  <a:srgbClr val="000000"/>
                </a:solidFill>
                <a:uFillTx/>
                <a:latin typeface="Calibri"/>
              </a:rPr>
              <a:t>	</a:t>
            </a:r>
            <a:r>
              <a:rPr b="1" lang="en-US" sz="1800" strike="noStrike" u="none">
                <a:solidFill>
                  <a:srgbClr val="000000"/>
                </a:solidFill>
                <a:uFillTx/>
                <a:latin typeface="Calibri"/>
              </a:rPr>
              <a:t>Occurrence :</a:t>
            </a:r>
            <a:r>
              <a:rPr b="0" lang="en-US" sz="1800" strike="noStrike" u="none">
                <a:solidFill>
                  <a:srgbClr val="000000"/>
                </a:solidFill>
                <a:uFillTx/>
                <a:latin typeface="Calibri"/>
              </a:rPr>
              <a:t> Flower heads of chrysanthemum genera. Active material is pyrethrin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1" lang="en-US" sz="1800" strike="noStrike" u="none">
                <a:solidFill>
                  <a:srgbClr val="000000"/>
                </a:solidFill>
                <a:uFillTx/>
                <a:latin typeface="Calibri"/>
              </a:rPr>
              <a:t>c)</a:t>
            </a:r>
            <a:r>
              <a:rPr b="1" lang="en-US" sz="1800" strike="noStrike" u="none">
                <a:solidFill>
                  <a:srgbClr val="000000"/>
                </a:solidFill>
                <a:uFillTx/>
                <a:latin typeface="Calibri"/>
              </a:rPr>
              <a:t>	</a:t>
            </a:r>
            <a:r>
              <a:rPr b="1" lang="en-US" sz="1800" strike="noStrike" u="none">
                <a:solidFill>
                  <a:srgbClr val="000000"/>
                </a:solidFill>
                <a:uFillTx/>
                <a:latin typeface="Calibri"/>
              </a:rPr>
              <a:t>Mode of action :</a:t>
            </a:r>
            <a:r>
              <a:rPr b="0" lang="en-US" sz="1800" strike="noStrike" u="none">
                <a:solidFill>
                  <a:srgbClr val="000000"/>
                </a:solidFill>
                <a:uFillTx/>
                <a:latin typeface="Calibri"/>
              </a:rPr>
              <a:t> Quick knock down action of induction of temporary paralysis.  The symptoms follow the typical pattern of nerve poison.  Pyrethrum affect central nervous system interfering the Na</a:t>
            </a:r>
            <a:r>
              <a:rPr b="0" lang="en-US" sz="1800" strike="noStrike" u="none" baseline="30000">
                <a:solidFill>
                  <a:srgbClr val="000000"/>
                </a:solidFill>
                <a:uFillTx/>
                <a:latin typeface="Calibri"/>
              </a:rPr>
              <a:t>+</a:t>
            </a:r>
            <a:r>
              <a:rPr b="0" lang="en-US" sz="1800" strike="noStrike" u="none">
                <a:solidFill>
                  <a:srgbClr val="000000"/>
                </a:solidFill>
                <a:uFillTx/>
                <a:latin typeface="Calibri"/>
              </a:rPr>
              <a:t> and K</a:t>
            </a:r>
            <a:r>
              <a:rPr b="0" lang="en-US" sz="1800" strike="noStrike" u="none" baseline="30000">
                <a:solidFill>
                  <a:srgbClr val="000000"/>
                </a:solidFill>
                <a:uFillTx/>
                <a:latin typeface="Calibri"/>
              </a:rPr>
              <a:t>+</a:t>
            </a:r>
            <a:r>
              <a:rPr b="0" lang="en-US" sz="1800" strike="noStrike" u="none">
                <a:solidFill>
                  <a:srgbClr val="000000"/>
                </a:solidFill>
                <a:uFillTx/>
                <a:latin typeface="Calibri"/>
              </a:rPr>
              <a:t> ionic potential.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	</a:t>
            </a:r>
            <a:r>
              <a:rPr b="1" lang="en-US" sz="1800" strike="noStrike" u="none">
                <a:solidFill>
                  <a:srgbClr val="000000"/>
                </a:solidFill>
                <a:uFillTx/>
                <a:latin typeface="Calibri"/>
              </a:rPr>
              <a:t>Pyrethrins</a:t>
            </a:r>
            <a:r>
              <a:rPr b="0" lang="en-US" sz="1800" strike="noStrike" u="none">
                <a:solidFill>
                  <a:srgbClr val="000000"/>
                </a:solidFill>
                <a:uFillTx/>
                <a:latin typeface="Calibri"/>
              </a:rPr>
              <a:t>  - occurs in the roots of Derris elliptica pyrethrins derived from dried flowers of chrysanthemum.  Chemically pyrethnins are organic esters formed by the combination of two carboxylic acids and three keto alcohols.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1" name="Group 5"/>
          <p:cNvGrpSpPr/>
          <p:nvPr/>
        </p:nvGrpSpPr>
        <p:grpSpPr>
          <a:xfrm>
            <a:off x="0" y="5046840"/>
            <a:ext cx="9144000" cy="102960"/>
            <a:chOff x="0" y="5046840"/>
            <a:chExt cx="9144000" cy="102960"/>
          </a:xfrm>
        </p:grpSpPr>
        <p:sp>
          <p:nvSpPr>
            <p:cNvPr id="52"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53"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54"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55" name="Picture 10" descr=""/>
          <p:cNvPicPr/>
          <p:nvPr/>
        </p:nvPicPr>
        <p:blipFill>
          <a:blip r:embed="rId1"/>
          <a:stretch/>
        </p:blipFill>
        <p:spPr>
          <a:xfrm>
            <a:off x="8015400" y="34920"/>
            <a:ext cx="728640" cy="677880"/>
          </a:xfrm>
          <a:prstGeom prst="rect">
            <a:avLst/>
          </a:prstGeom>
          <a:noFill/>
          <a:ln w="0">
            <a:noFill/>
          </a:ln>
        </p:spPr>
      </p:pic>
      <p:sp>
        <p:nvSpPr>
          <p:cNvPr id="56" name="TextBox 1"/>
          <p:cNvSpPr/>
          <p:nvPr/>
        </p:nvSpPr>
        <p:spPr>
          <a:xfrm>
            <a:off x="264960" y="1035000"/>
            <a:ext cx="6845400" cy="44830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1.</a:t>
            </a:r>
            <a:r>
              <a:rPr b="1" lang="en-US" sz="2400" strike="noStrike" u="none">
                <a:solidFill>
                  <a:srgbClr val="000000"/>
                </a:solidFill>
                <a:uFillTx/>
                <a:latin typeface="Calibri"/>
              </a:rPr>
              <a:t>	</a:t>
            </a:r>
            <a:r>
              <a:rPr b="1" lang="en-US" sz="2400" strike="noStrike" u="none">
                <a:solidFill>
                  <a:srgbClr val="000000"/>
                </a:solidFill>
                <a:uFillTx/>
                <a:latin typeface="Calibri"/>
              </a:rPr>
              <a:t>Synthesis</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2.</a:t>
            </a:r>
            <a:r>
              <a:rPr b="1" lang="en-US" sz="2400" strike="noStrike" u="none">
                <a:solidFill>
                  <a:srgbClr val="000000"/>
                </a:solidFill>
                <a:uFillTx/>
                <a:latin typeface="Calibri"/>
              </a:rPr>
              <a:t>	</a:t>
            </a:r>
            <a:r>
              <a:rPr b="1" lang="en-US" sz="2400" strike="noStrike" u="none">
                <a:solidFill>
                  <a:srgbClr val="000000"/>
                </a:solidFill>
                <a:uFillTx/>
                <a:latin typeface="Calibri"/>
              </a:rPr>
              <a:t>The preliminary screening</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3.</a:t>
            </a:r>
            <a:r>
              <a:rPr b="1" lang="en-US" sz="2400" strike="noStrike" u="none">
                <a:solidFill>
                  <a:srgbClr val="000000"/>
                </a:solidFill>
                <a:uFillTx/>
                <a:latin typeface="Calibri"/>
              </a:rPr>
              <a:t>	</a:t>
            </a:r>
            <a:r>
              <a:rPr b="1" lang="en-US" sz="2400" strike="noStrike" u="none">
                <a:solidFill>
                  <a:srgbClr val="000000"/>
                </a:solidFill>
                <a:uFillTx/>
                <a:latin typeface="Calibri"/>
              </a:rPr>
              <a:t>Formulation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4.</a:t>
            </a:r>
            <a:r>
              <a:rPr b="1" lang="en-US" sz="2400" strike="noStrike" u="none">
                <a:solidFill>
                  <a:srgbClr val="000000"/>
                </a:solidFill>
                <a:uFillTx/>
                <a:latin typeface="Calibri"/>
              </a:rPr>
              <a:t>	</a:t>
            </a:r>
            <a:r>
              <a:rPr b="1" lang="en-US" sz="2400" strike="noStrike" u="none">
                <a:solidFill>
                  <a:srgbClr val="000000"/>
                </a:solidFill>
                <a:uFillTx/>
                <a:latin typeface="Calibri"/>
              </a:rPr>
              <a:t>Toxicity studies</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5.</a:t>
            </a:r>
            <a:r>
              <a:rPr b="1" lang="en-US" sz="2400" strike="noStrike" u="none">
                <a:solidFill>
                  <a:srgbClr val="000000"/>
                </a:solidFill>
                <a:uFillTx/>
                <a:latin typeface="Calibri"/>
              </a:rPr>
              <a:t>	</a:t>
            </a:r>
            <a:r>
              <a:rPr b="1" lang="en-US" sz="2400" strike="noStrike" u="none">
                <a:solidFill>
                  <a:srgbClr val="000000"/>
                </a:solidFill>
                <a:uFillTx/>
                <a:latin typeface="Calibri"/>
              </a:rPr>
              <a:t>Metabolism studies</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6.</a:t>
            </a:r>
            <a:r>
              <a:rPr b="1" lang="en-US" sz="2400" strike="noStrike" u="none">
                <a:solidFill>
                  <a:srgbClr val="000000"/>
                </a:solidFill>
                <a:uFillTx/>
                <a:latin typeface="Calibri"/>
              </a:rPr>
              <a:t>	</a:t>
            </a:r>
            <a:r>
              <a:rPr b="1" lang="en-US" sz="2400" strike="noStrike" u="none">
                <a:solidFill>
                  <a:srgbClr val="000000"/>
                </a:solidFill>
                <a:uFillTx/>
                <a:latin typeface="Calibri"/>
              </a:rPr>
              <a:t>Residue studies</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7.</a:t>
            </a:r>
            <a:r>
              <a:rPr b="1" lang="en-US" sz="2400" strike="noStrike" u="none">
                <a:solidFill>
                  <a:srgbClr val="000000"/>
                </a:solidFill>
                <a:uFillTx/>
                <a:latin typeface="Calibri"/>
              </a:rPr>
              <a:t>	</a:t>
            </a:r>
            <a:r>
              <a:rPr b="1" lang="en-US" sz="2400" strike="noStrike" u="none">
                <a:solidFill>
                  <a:srgbClr val="000000"/>
                </a:solidFill>
                <a:uFillTx/>
                <a:latin typeface="Calibri"/>
              </a:rPr>
              <a:t>Registration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8.</a:t>
            </a:r>
            <a:r>
              <a:rPr b="1" lang="en-US" sz="2400" strike="noStrike" u="none">
                <a:solidFill>
                  <a:srgbClr val="000000"/>
                </a:solidFill>
                <a:uFillTx/>
                <a:latin typeface="Calibri"/>
              </a:rPr>
              <a:t>	</a:t>
            </a:r>
            <a:r>
              <a:rPr b="1" lang="en-US" sz="2400" strike="noStrike" u="none">
                <a:solidFill>
                  <a:srgbClr val="000000"/>
                </a:solidFill>
                <a:uFillTx/>
                <a:latin typeface="Calibri"/>
              </a:rPr>
              <a:t>Promotion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9.</a:t>
            </a:r>
            <a:r>
              <a:rPr b="1" lang="en-US" sz="2400" strike="noStrike" u="none">
                <a:solidFill>
                  <a:srgbClr val="000000"/>
                </a:solidFill>
                <a:uFillTx/>
                <a:latin typeface="Calibri"/>
              </a:rPr>
              <a:t>	</a:t>
            </a:r>
            <a:r>
              <a:rPr b="1" lang="en-US" sz="2400" strike="noStrike" u="none">
                <a:solidFill>
                  <a:srgbClr val="000000"/>
                </a:solidFill>
                <a:uFillTx/>
                <a:latin typeface="Calibri"/>
              </a:rPr>
              <a:t>Plot plant studies</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10.</a:t>
            </a:r>
            <a:r>
              <a:rPr b="1" lang="en-US" sz="2400" strike="noStrike" u="none">
                <a:solidFill>
                  <a:srgbClr val="000000"/>
                </a:solidFill>
                <a:uFillTx/>
                <a:latin typeface="Calibri"/>
              </a:rPr>
              <a:t>	</a:t>
            </a:r>
            <a:r>
              <a:rPr b="1" lang="en-US" sz="2400" strike="noStrike" u="none">
                <a:solidFill>
                  <a:srgbClr val="000000"/>
                </a:solidFill>
                <a:uFillTx/>
                <a:latin typeface="Calibri"/>
              </a:rPr>
              <a:t>Commercial.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400" strike="noStrike" u="none">
              <a:solidFill>
                <a:srgbClr val="000000"/>
              </a:solidFill>
              <a:uFillTx/>
              <a:latin typeface="Calibri"/>
            </a:endParaRPr>
          </a:p>
        </p:txBody>
      </p:sp>
      <p:sp>
        <p:nvSpPr>
          <p:cNvPr id="57" name="TextBox 2"/>
          <p:cNvSpPr/>
          <p:nvPr/>
        </p:nvSpPr>
        <p:spPr>
          <a:xfrm>
            <a:off x="264960" y="34920"/>
            <a:ext cx="8794800" cy="8254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LECT 28-30 : Steps in development of pesticides.(Important)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4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8" name="Group 5"/>
          <p:cNvGrpSpPr/>
          <p:nvPr/>
        </p:nvGrpSpPr>
        <p:grpSpPr>
          <a:xfrm>
            <a:off x="0" y="5046840"/>
            <a:ext cx="9144000" cy="102960"/>
            <a:chOff x="0" y="5046840"/>
            <a:chExt cx="9144000" cy="102960"/>
          </a:xfrm>
        </p:grpSpPr>
        <p:sp>
          <p:nvSpPr>
            <p:cNvPr id="59"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60"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61"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62" name="Picture 10" descr=""/>
          <p:cNvPicPr/>
          <p:nvPr/>
        </p:nvPicPr>
        <p:blipFill>
          <a:blip r:embed="rId1"/>
          <a:stretch/>
        </p:blipFill>
        <p:spPr>
          <a:xfrm>
            <a:off x="8015400" y="34920"/>
            <a:ext cx="728640" cy="677880"/>
          </a:xfrm>
          <a:prstGeom prst="rect">
            <a:avLst/>
          </a:prstGeom>
          <a:noFill/>
          <a:ln w="0">
            <a:noFill/>
          </a:ln>
        </p:spPr>
      </p:pic>
      <p:sp>
        <p:nvSpPr>
          <p:cNvPr id="63" name="TextBox 1"/>
          <p:cNvSpPr/>
          <p:nvPr/>
        </p:nvSpPr>
        <p:spPr>
          <a:xfrm>
            <a:off x="565200" y="1143000"/>
            <a:ext cx="8467560" cy="11912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Synthetic organic insecticides, Chlorinated hydrocarbons --</a:t>
            </a:r>
            <a:r>
              <a:rPr b="1" lang="en-US" sz="1800" strike="noStrike" u="none">
                <a:solidFill>
                  <a:srgbClr val="000000"/>
                </a:solidFill>
                <a:uFillTx/>
                <a:latin typeface="Wingdings"/>
                <a:ea typeface="Wingdings"/>
              </a:rPr>
              <a:t></a:t>
            </a:r>
            <a:r>
              <a:rPr b="1" lang="en-US" sz="1800" strike="noStrike" u="none">
                <a:solidFill>
                  <a:srgbClr val="000000"/>
                </a:solidFill>
                <a:uFillTx/>
                <a:latin typeface="Calibri"/>
              </a:rPr>
              <a:t> Aldrin chlordane, heptachlor, DBCP.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fr-FR" sz="1800" strike="noStrike" u="none">
                <a:solidFill>
                  <a:srgbClr val="000000"/>
                </a:solidFill>
                <a:uFillTx/>
                <a:latin typeface="Calibri"/>
              </a:rPr>
              <a:t>Organophosphates – Diazinon, disulfton,  malathion, methyl parathion.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Carbamates – Carbayl, carbofuran, methomyl, aldicatb, dithiocarb, oxamyl</a:t>
            </a: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4" name="Group 5"/>
          <p:cNvGrpSpPr/>
          <p:nvPr/>
        </p:nvGrpSpPr>
        <p:grpSpPr>
          <a:xfrm>
            <a:off x="0" y="5046840"/>
            <a:ext cx="9144000" cy="102960"/>
            <a:chOff x="0" y="5046840"/>
            <a:chExt cx="9144000" cy="102960"/>
          </a:xfrm>
        </p:grpSpPr>
        <p:sp>
          <p:nvSpPr>
            <p:cNvPr id="65"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66"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67"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68" name="Picture 10" descr=""/>
          <p:cNvPicPr/>
          <p:nvPr/>
        </p:nvPicPr>
        <p:blipFill>
          <a:blip r:embed="rId1"/>
          <a:stretch/>
        </p:blipFill>
        <p:spPr>
          <a:xfrm>
            <a:off x="8015400" y="34920"/>
            <a:ext cx="728640" cy="677880"/>
          </a:xfrm>
          <a:prstGeom prst="rect">
            <a:avLst/>
          </a:prstGeom>
          <a:noFill/>
          <a:ln w="0">
            <a:noFill/>
          </a:ln>
        </p:spPr>
      </p:pic>
      <p:sp>
        <p:nvSpPr>
          <p:cNvPr id="69" name="TextBox 1"/>
          <p:cNvSpPr/>
          <p:nvPr/>
        </p:nvSpPr>
        <p:spPr>
          <a:xfrm>
            <a:off x="142920" y="179280"/>
            <a:ext cx="8856720" cy="4791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1.</a:t>
            </a:r>
            <a:r>
              <a:rPr b="1" lang="en-US" sz="1600" strike="noStrike" u="none">
                <a:solidFill>
                  <a:srgbClr val="000000"/>
                </a:solidFill>
                <a:uFillTx/>
                <a:latin typeface="Calibri"/>
              </a:rPr>
              <a:t>	</a:t>
            </a:r>
            <a:r>
              <a:rPr b="1" lang="en-US" sz="1600" strike="noStrike" u="none">
                <a:solidFill>
                  <a:srgbClr val="000000"/>
                </a:solidFill>
                <a:uFillTx/>
                <a:latin typeface="Calibri"/>
              </a:rPr>
              <a:t>Organochlorine insecticides</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	</a:t>
            </a:r>
            <a:r>
              <a:rPr b="0" lang="en-US" sz="1600" strike="noStrike" u="none">
                <a:solidFill>
                  <a:srgbClr val="000000"/>
                </a:solidFill>
                <a:uFillTx/>
                <a:latin typeface="Calibri"/>
              </a:rPr>
              <a:t>It includes substances which vary in their chemical structure but because of their common properties in high insecticidal activity and chemical and biological persistence, these are groped in to one. Chemical these can be further subdivided in to four major groups.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Classification of organochloride insecticides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a)</a:t>
            </a:r>
            <a:r>
              <a:rPr b="0" lang="en-US" sz="1600" strike="noStrike" u="none">
                <a:solidFill>
                  <a:srgbClr val="000000"/>
                </a:solidFill>
                <a:uFillTx/>
                <a:latin typeface="Calibri"/>
              </a:rPr>
              <a:t>	</a:t>
            </a:r>
            <a:r>
              <a:rPr b="0" lang="en-US" sz="1600" strike="noStrike" u="none">
                <a:solidFill>
                  <a:srgbClr val="000000"/>
                </a:solidFill>
                <a:uFillTx/>
                <a:latin typeface="Calibri"/>
              </a:rPr>
              <a:t>DDT and relatives </a:t>
            </a:r>
            <a:r>
              <a:rPr b="0" lang="en-US" sz="1600" strike="noStrike" u="none">
                <a:solidFill>
                  <a:srgbClr val="000000"/>
                </a:solidFill>
                <a:uFillTx/>
                <a:latin typeface="Calibri"/>
              </a:rPr>
              <a:t>	</a:t>
            </a:r>
            <a:r>
              <a:rPr b="0" lang="en-US" sz="1600" strike="noStrike" u="none">
                <a:solidFill>
                  <a:srgbClr val="000000"/>
                </a:solidFill>
                <a:uFillTx/>
                <a:latin typeface="Calibri"/>
              </a:rPr>
              <a:t>-</a:t>
            </a:r>
            <a:r>
              <a:rPr b="0" lang="en-US" sz="1600" strike="noStrike" u="none">
                <a:solidFill>
                  <a:srgbClr val="000000"/>
                </a:solidFill>
                <a:uFillTx/>
                <a:latin typeface="Calibri"/>
              </a:rPr>
              <a:t>	</a:t>
            </a:r>
            <a:r>
              <a:rPr b="0" lang="en-US" sz="1600" strike="noStrike" u="none">
                <a:solidFill>
                  <a:srgbClr val="000000"/>
                </a:solidFill>
                <a:uFillTx/>
                <a:latin typeface="Calibri"/>
              </a:rPr>
              <a:t>DDT, Perthane, Rothane (DDD)</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b)</a:t>
            </a:r>
            <a:r>
              <a:rPr b="0" lang="en-US" sz="1600" strike="noStrike" u="none">
                <a:solidFill>
                  <a:srgbClr val="000000"/>
                </a:solidFill>
                <a:uFillTx/>
                <a:latin typeface="Calibri"/>
              </a:rPr>
              <a:t>	</a:t>
            </a:r>
            <a:r>
              <a:rPr b="0" lang="en-US" sz="1600" strike="noStrike" u="none">
                <a:solidFill>
                  <a:srgbClr val="000000"/>
                </a:solidFill>
                <a:uFillTx/>
                <a:latin typeface="Calibri"/>
              </a:rPr>
              <a:t>Benzene derivatives</a:t>
            </a:r>
            <a:r>
              <a:rPr b="0" lang="en-US" sz="1600" strike="noStrike" u="none">
                <a:solidFill>
                  <a:srgbClr val="000000"/>
                </a:solidFill>
                <a:uFillTx/>
                <a:latin typeface="Calibri"/>
              </a:rPr>
              <a:t>	</a:t>
            </a:r>
            <a:r>
              <a:rPr b="0" lang="en-US" sz="1600" strike="noStrike" u="none">
                <a:solidFill>
                  <a:srgbClr val="000000"/>
                </a:solidFill>
                <a:uFillTx/>
                <a:latin typeface="Calibri"/>
              </a:rPr>
              <a:t>-</a:t>
            </a:r>
            <a:r>
              <a:rPr b="0" lang="en-US" sz="1600" strike="noStrike" u="none">
                <a:solidFill>
                  <a:srgbClr val="000000"/>
                </a:solidFill>
                <a:uFillTx/>
                <a:latin typeface="Calibri"/>
              </a:rPr>
              <a:t>	</a:t>
            </a:r>
            <a:r>
              <a:rPr b="0" lang="en-US" sz="1600" strike="noStrike" u="none">
                <a:solidFill>
                  <a:srgbClr val="000000"/>
                </a:solidFill>
                <a:uFillTx/>
                <a:latin typeface="Calibri"/>
              </a:rPr>
              <a:t>BHC, Lindane</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c)</a:t>
            </a:r>
            <a:r>
              <a:rPr b="0" lang="en-US" sz="1600" strike="noStrike" u="none">
                <a:solidFill>
                  <a:srgbClr val="000000"/>
                </a:solidFill>
                <a:uFillTx/>
                <a:latin typeface="Calibri"/>
              </a:rPr>
              <a:t>	</a:t>
            </a:r>
            <a:r>
              <a:rPr b="0" lang="en-US" sz="1600" strike="noStrike" u="none">
                <a:solidFill>
                  <a:srgbClr val="000000"/>
                </a:solidFill>
                <a:uFillTx/>
                <a:latin typeface="Calibri"/>
              </a:rPr>
              <a:t>Cyclodiencs</a:t>
            </a:r>
            <a:r>
              <a:rPr b="0" lang="en-US" sz="1600" strike="noStrike" u="none">
                <a:solidFill>
                  <a:srgbClr val="000000"/>
                </a:solidFill>
                <a:uFillTx/>
                <a:latin typeface="Calibri"/>
              </a:rPr>
              <a:t>	</a:t>
            </a:r>
            <a:r>
              <a:rPr b="0" lang="en-US" sz="1600" strike="noStrike" u="none">
                <a:solidFill>
                  <a:srgbClr val="000000"/>
                </a:solidFill>
                <a:uFillTx/>
                <a:latin typeface="Calibri"/>
              </a:rPr>
              <a:t>	</a:t>
            </a:r>
            <a:r>
              <a:rPr b="0" lang="en-US" sz="1600" strike="noStrike" u="none">
                <a:solidFill>
                  <a:srgbClr val="000000"/>
                </a:solidFill>
                <a:uFillTx/>
                <a:latin typeface="Calibri"/>
              </a:rPr>
              <a:t>- </a:t>
            </a:r>
            <a:r>
              <a:rPr b="0" lang="en-US" sz="1600" strike="noStrike" u="none">
                <a:solidFill>
                  <a:srgbClr val="000000"/>
                </a:solidFill>
                <a:uFillTx/>
                <a:latin typeface="Calibri"/>
              </a:rPr>
              <a:t>	</a:t>
            </a:r>
            <a:r>
              <a:rPr b="0" lang="en-US" sz="1600" strike="noStrike" u="none">
                <a:solidFill>
                  <a:srgbClr val="000000"/>
                </a:solidFill>
                <a:uFillTx/>
                <a:latin typeface="Calibri"/>
              </a:rPr>
              <a:t>Aldrin, dieldrin, Endrin, Chlordane, Budosulfan,  Heptachlore.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d)</a:t>
            </a:r>
            <a:r>
              <a:rPr b="0" lang="en-US" sz="1600" strike="noStrike" u="none">
                <a:solidFill>
                  <a:srgbClr val="000000"/>
                </a:solidFill>
                <a:uFillTx/>
                <a:latin typeface="Calibri"/>
              </a:rPr>
              <a:t>	</a:t>
            </a:r>
            <a:r>
              <a:rPr b="0" lang="en-US" sz="1600" strike="noStrike" u="none">
                <a:solidFill>
                  <a:srgbClr val="000000"/>
                </a:solidFill>
                <a:uFillTx/>
                <a:latin typeface="Calibri"/>
              </a:rPr>
              <a:t>Polychloroterpenes</a:t>
            </a:r>
            <a:r>
              <a:rPr b="0" lang="en-US" sz="1600" strike="noStrike" u="none">
                <a:solidFill>
                  <a:srgbClr val="000000"/>
                </a:solidFill>
                <a:uFillTx/>
                <a:latin typeface="Calibri"/>
              </a:rPr>
              <a:t>	</a:t>
            </a:r>
            <a:r>
              <a:rPr b="0" lang="en-US" sz="1600" strike="noStrike" u="none">
                <a:solidFill>
                  <a:srgbClr val="000000"/>
                </a:solidFill>
                <a:uFillTx/>
                <a:latin typeface="Calibri"/>
              </a:rPr>
              <a:t>-</a:t>
            </a:r>
            <a:r>
              <a:rPr b="0" lang="en-US" sz="1600" strike="noStrike" u="none">
                <a:solidFill>
                  <a:srgbClr val="000000"/>
                </a:solidFill>
                <a:uFillTx/>
                <a:latin typeface="Calibri"/>
              </a:rPr>
              <a:t>	</a:t>
            </a:r>
            <a:r>
              <a:rPr b="0" lang="en-US" sz="1600" strike="noStrike" u="none">
                <a:solidFill>
                  <a:srgbClr val="000000"/>
                </a:solidFill>
                <a:uFillTx/>
                <a:latin typeface="Calibri"/>
              </a:rPr>
              <a:t>Toxaphene, storbane.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i.DDT – (Dichlorodiphenyl trichlorocthane)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a.Structure – Give structure – 1, 1, 1-trichloro –2, 2-bits (P-chlorophenyl) ethane. First synthesised by ‘Zeidler in 1874.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ii)</a:t>
            </a:r>
            <a:r>
              <a:rPr b="0" lang="en-US" sz="1600" strike="noStrike" u="none">
                <a:solidFill>
                  <a:srgbClr val="000000"/>
                </a:solidFill>
                <a:uFillTx/>
                <a:latin typeface="Calibri"/>
              </a:rPr>
              <a:t>	</a:t>
            </a:r>
            <a:r>
              <a:rPr b="0" lang="en-US" sz="1600" strike="noStrike" u="none">
                <a:solidFill>
                  <a:srgbClr val="000000"/>
                </a:solidFill>
                <a:uFillTx/>
                <a:latin typeface="Calibri"/>
              </a:rPr>
              <a:t>BHC – Benzene hexachloride, C</a:t>
            </a:r>
            <a:r>
              <a:rPr b="0" lang="en-US" sz="1600" strike="noStrike" u="none" baseline="-25000">
                <a:solidFill>
                  <a:srgbClr val="000000"/>
                </a:solidFill>
                <a:uFillTx/>
                <a:latin typeface="Calibri"/>
              </a:rPr>
              <a:t>6</a:t>
            </a:r>
            <a:r>
              <a:rPr b="0" lang="en-US" sz="1600" strike="noStrike" u="none">
                <a:solidFill>
                  <a:srgbClr val="000000"/>
                </a:solidFill>
                <a:uFillTx/>
                <a:latin typeface="Calibri"/>
              </a:rPr>
              <a:t>H</a:t>
            </a:r>
            <a:r>
              <a:rPr b="0" lang="en-US" sz="1600" strike="noStrike" u="none" baseline="-25000">
                <a:solidFill>
                  <a:srgbClr val="000000"/>
                </a:solidFill>
                <a:uFillTx/>
                <a:latin typeface="Calibri"/>
              </a:rPr>
              <a:t>6</a:t>
            </a:r>
            <a:r>
              <a:rPr b="0" lang="en-US" sz="1600" strike="noStrike" u="none">
                <a:solidFill>
                  <a:srgbClr val="000000"/>
                </a:solidFill>
                <a:uFillTx/>
                <a:latin typeface="Calibri"/>
              </a:rPr>
              <a:t>C</a:t>
            </a:r>
            <a:r>
              <a:rPr b="0" lang="en-US" sz="1600" strike="noStrike" u="none" baseline="-25000">
                <a:solidFill>
                  <a:srgbClr val="000000"/>
                </a:solidFill>
                <a:uFillTx/>
                <a:latin typeface="Calibri"/>
              </a:rPr>
              <a:t>l6</a:t>
            </a:r>
            <a:r>
              <a:rPr b="0" lang="en-US" sz="1600" strike="noStrike" u="none">
                <a:solidFill>
                  <a:srgbClr val="000000"/>
                </a:solidFill>
                <a:uFillTx/>
                <a:latin typeface="Calibri"/>
              </a:rPr>
              <a:t>. Hexachloro cyclohexane, 1, 2, 3, 4, 5, 6 – Hexchlorocyclohexane. Also called as HCH (Hexachloro cyclohexane).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	</a:t>
            </a:r>
            <a:r>
              <a:rPr b="0" lang="en-US" sz="1600" strike="noStrike" u="none">
                <a:solidFill>
                  <a:srgbClr val="000000"/>
                </a:solidFill>
                <a:uFillTx/>
                <a:latin typeface="Calibri"/>
              </a:rPr>
              <a:t>First synthesized by Micheal Faraday in 1825. </a:t>
            </a:r>
            <a:r>
              <a:rPr b="0" lang="en-US" sz="1600" strike="noStrike" u="none">
                <a:solidFill>
                  <a:srgbClr val="000000"/>
                </a:solidFill>
                <a:uFillTx/>
                <a:latin typeface="Calibri"/>
              </a:rPr>
              <a:t>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iii)</a:t>
            </a:r>
            <a:r>
              <a:rPr b="0" lang="en-US" sz="1600" strike="noStrike" u="none">
                <a:solidFill>
                  <a:srgbClr val="000000"/>
                </a:solidFill>
                <a:uFillTx/>
                <a:latin typeface="Calibri"/>
              </a:rPr>
              <a:t>	</a:t>
            </a:r>
            <a:r>
              <a:rPr b="0" lang="en-US" sz="1600" strike="noStrike" u="none">
                <a:solidFill>
                  <a:srgbClr val="000000"/>
                </a:solidFill>
                <a:uFillTx/>
                <a:latin typeface="Calibri"/>
              </a:rPr>
              <a:t>Cyclodienes – Insecticides having cyclic structure containing two double bonds.  Prepared by Diels – Alder reaction.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Endosulpan (Thiodan) (5,H</a:t>
            </a:r>
            <a:r>
              <a:rPr b="0" lang="en-US" sz="1600" strike="noStrike" u="none" baseline="-25000">
                <a:solidFill>
                  <a:srgbClr val="000000"/>
                </a:solidFill>
                <a:uFillTx/>
                <a:latin typeface="Calibri"/>
              </a:rPr>
              <a:t>6</a:t>
            </a:r>
            <a:r>
              <a:rPr b="0" lang="en-US" sz="1600" strike="noStrike" u="none">
                <a:solidFill>
                  <a:srgbClr val="000000"/>
                </a:solidFill>
                <a:uFillTx/>
                <a:latin typeface="Calibri"/>
              </a:rPr>
              <a:t> C</a:t>
            </a:r>
            <a:r>
              <a:rPr b="0" lang="en-US" sz="1600" strike="noStrike" u="none" baseline="-25000">
                <a:solidFill>
                  <a:srgbClr val="000000"/>
                </a:solidFill>
                <a:uFillTx/>
                <a:latin typeface="Calibri"/>
              </a:rPr>
              <a:t>l6</a:t>
            </a:r>
            <a:r>
              <a:rPr b="0" lang="en-US" sz="1600" strike="noStrike" u="none">
                <a:solidFill>
                  <a:srgbClr val="000000"/>
                </a:solidFill>
                <a:uFillTx/>
                <a:latin typeface="Calibri"/>
              </a:rPr>
              <a:t>SO</a:t>
            </a:r>
            <a:r>
              <a:rPr b="0" lang="en-US" sz="1600" strike="noStrike" u="none" baseline="-25000">
                <a:solidFill>
                  <a:srgbClr val="000000"/>
                </a:solidFill>
                <a:uFillTx/>
                <a:latin typeface="Calibri"/>
              </a:rPr>
              <a:t>3</a:t>
            </a:r>
            <a:r>
              <a:rPr b="0" lang="en-US" sz="1600" strike="noStrike" u="none">
                <a:solidFill>
                  <a:srgbClr val="000000"/>
                </a:solidFill>
                <a:uFillTx/>
                <a:latin typeface="Calibri"/>
              </a:rPr>
              <a:t>.</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	</a:t>
            </a:r>
            <a:r>
              <a:rPr b="0" lang="en-US" sz="1300" strike="noStrike" u="none">
                <a:solidFill>
                  <a:srgbClr val="000000"/>
                </a:solidFill>
                <a:uFillTx/>
                <a:latin typeface="Calibri"/>
              </a:rPr>
              <a:t>	</a:t>
            </a: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0" name="Group 5"/>
          <p:cNvGrpSpPr/>
          <p:nvPr/>
        </p:nvGrpSpPr>
        <p:grpSpPr>
          <a:xfrm>
            <a:off x="0" y="5046840"/>
            <a:ext cx="9144000" cy="102960"/>
            <a:chOff x="0" y="5046840"/>
            <a:chExt cx="9144000" cy="102960"/>
          </a:xfrm>
        </p:grpSpPr>
        <p:sp>
          <p:nvSpPr>
            <p:cNvPr id="71"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72"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73"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74" name="Picture 10" descr=""/>
          <p:cNvPicPr/>
          <p:nvPr/>
        </p:nvPicPr>
        <p:blipFill>
          <a:blip r:embed="rId1"/>
          <a:stretch/>
        </p:blipFill>
        <p:spPr>
          <a:xfrm>
            <a:off x="8015400" y="34920"/>
            <a:ext cx="728640" cy="677880"/>
          </a:xfrm>
          <a:prstGeom prst="rect">
            <a:avLst/>
          </a:prstGeom>
          <a:noFill/>
          <a:ln w="0">
            <a:noFill/>
          </a:ln>
        </p:spPr>
      </p:pic>
      <p:sp>
        <p:nvSpPr>
          <p:cNvPr id="75" name="TextBox 1"/>
          <p:cNvSpPr/>
          <p:nvPr/>
        </p:nvSpPr>
        <p:spPr>
          <a:xfrm>
            <a:off x="325440" y="1022400"/>
            <a:ext cx="8553600" cy="22885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Mode of action of organochlorides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0" lang="en-US" sz="1800" strike="noStrike" u="none">
                <a:solidFill>
                  <a:srgbClr val="000000"/>
                </a:solidFill>
                <a:uFillTx/>
                <a:latin typeface="Calibri"/>
              </a:rPr>
              <a:t>Chlorinated hydrocarbons are all neurotoxicants.  Their application cause inhibition or inactivation or inter ferous in the functioning of Na-K. ATPase and Ca-ATPase enzymes which are required for proper a balance of Na and K in axon.  The imbalance of these enzymes results in prevention of normal transmission of nerve imbalse in insects and mannuals.  Eventually the neutrons five imbalses spontaneously causing muscles to twitch this may lead to convulsion and death.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6" name="Group 5"/>
          <p:cNvGrpSpPr/>
          <p:nvPr/>
        </p:nvGrpSpPr>
        <p:grpSpPr>
          <a:xfrm>
            <a:off x="0" y="5046840"/>
            <a:ext cx="9144000" cy="102960"/>
            <a:chOff x="0" y="5046840"/>
            <a:chExt cx="9144000" cy="102960"/>
          </a:xfrm>
        </p:grpSpPr>
        <p:sp>
          <p:nvSpPr>
            <p:cNvPr id="77"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78"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79"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80" name="Picture 10" descr=""/>
          <p:cNvPicPr/>
          <p:nvPr/>
        </p:nvPicPr>
        <p:blipFill>
          <a:blip r:embed="rId1"/>
          <a:stretch/>
        </p:blipFill>
        <p:spPr>
          <a:xfrm>
            <a:off x="8015400" y="34920"/>
            <a:ext cx="728640" cy="677880"/>
          </a:xfrm>
          <a:prstGeom prst="rect">
            <a:avLst/>
          </a:prstGeom>
          <a:noFill/>
          <a:ln w="0">
            <a:noFill/>
          </a:ln>
        </p:spPr>
      </p:pic>
      <p:sp>
        <p:nvSpPr>
          <p:cNvPr id="81" name="TextBox 1"/>
          <p:cNvSpPr/>
          <p:nvPr/>
        </p:nvSpPr>
        <p:spPr>
          <a:xfrm>
            <a:off x="541440" y="1046160"/>
            <a:ext cx="8334360" cy="40604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They are the esters of different alcohols and phosphorus acid.  They econtain C, H, O, P, S, N and Cl molecule in their structure.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Compounds of this group possessing insecticidal action can be classified on the basis of following acid derivatives.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a)</a:t>
            </a:r>
            <a:r>
              <a:rPr b="1" lang="en-US" sz="1600" strike="noStrike" u="none">
                <a:solidFill>
                  <a:srgbClr val="000000"/>
                </a:solidFill>
                <a:uFillTx/>
                <a:latin typeface="Calibri"/>
              </a:rPr>
              <a:t>	</a:t>
            </a:r>
            <a:r>
              <a:rPr b="1" lang="en-US" sz="1600" strike="noStrike" u="none">
                <a:solidFill>
                  <a:srgbClr val="000000"/>
                </a:solidFill>
                <a:uFillTx/>
                <a:latin typeface="Calibri"/>
              </a:rPr>
              <a:t>Phosphoric acid </a:t>
            </a:r>
            <a:r>
              <a:rPr b="1" lang="en-US" sz="1600" strike="noStrike" u="none">
                <a:solidFill>
                  <a:srgbClr val="000000"/>
                </a:solidFill>
                <a:uFillTx/>
                <a:latin typeface="Calibri"/>
              </a:rPr>
              <a:t>	</a:t>
            </a:r>
            <a:r>
              <a:rPr b="1" lang="en-US" sz="1600" strike="noStrike" u="none">
                <a:solidFill>
                  <a:srgbClr val="000000"/>
                </a:solidFill>
                <a:uFillTx/>
                <a:latin typeface="Calibri"/>
              </a:rPr>
              <a:t>	</a:t>
            </a:r>
            <a:r>
              <a:rPr b="1" lang="en-US" sz="1600" strike="noStrike" u="none">
                <a:solidFill>
                  <a:srgbClr val="000000"/>
                </a:solidFill>
                <a:uFillTx/>
                <a:latin typeface="Calibri"/>
              </a:rPr>
              <a:t>-</a:t>
            </a:r>
            <a:r>
              <a:rPr b="1" lang="en-US" sz="1600" strike="noStrike" u="none">
                <a:solidFill>
                  <a:srgbClr val="000000"/>
                </a:solidFill>
                <a:uFillTx/>
                <a:latin typeface="Calibri"/>
              </a:rPr>
              <a:t>	</a:t>
            </a:r>
            <a:r>
              <a:rPr b="1" lang="en-US" sz="1600" strike="noStrike" u="none">
                <a:solidFill>
                  <a:srgbClr val="000000"/>
                </a:solidFill>
                <a:uFillTx/>
                <a:latin typeface="Calibri"/>
              </a:rPr>
              <a:t>Dichlorovas, phosphamidon.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b)</a:t>
            </a:r>
            <a:r>
              <a:rPr b="1" lang="en-US" sz="1600" strike="noStrike" u="none">
                <a:solidFill>
                  <a:srgbClr val="000000"/>
                </a:solidFill>
                <a:uFillTx/>
                <a:latin typeface="Calibri"/>
              </a:rPr>
              <a:t>	</a:t>
            </a:r>
            <a:r>
              <a:rPr b="1" lang="en-US" sz="1600" strike="noStrike" u="none">
                <a:solidFill>
                  <a:srgbClr val="000000"/>
                </a:solidFill>
                <a:uFillTx/>
                <a:latin typeface="Calibri"/>
              </a:rPr>
              <a:t>Phosphoric acid</a:t>
            </a:r>
            <a:r>
              <a:rPr b="1" lang="en-US" sz="1600" strike="noStrike" u="none">
                <a:solidFill>
                  <a:srgbClr val="000000"/>
                </a:solidFill>
                <a:uFillTx/>
                <a:latin typeface="Calibri"/>
              </a:rPr>
              <a:t>	</a:t>
            </a:r>
            <a:r>
              <a:rPr b="1" lang="en-US" sz="1600" strike="noStrike" u="none">
                <a:solidFill>
                  <a:srgbClr val="000000"/>
                </a:solidFill>
                <a:uFillTx/>
                <a:latin typeface="Calibri"/>
              </a:rPr>
              <a:t>	</a:t>
            </a:r>
            <a:r>
              <a:rPr b="1" lang="en-US" sz="1600" strike="noStrike" u="none">
                <a:solidFill>
                  <a:srgbClr val="000000"/>
                </a:solidFill>
                <a:uFillTx/>
                <a:latin typeface="Calibri"/>
              </a:rPr>
              <a:t>-</a:t>
            </a:r>
            <a:r>
              <a:rPr b="1" lang="en-US" sz="1600" strike="noStrike" u="none">
                <a:solidFill>
                  <a:srgbClr val="000000"/>
                </a:solidFill>
                <a:uFillTx/>
                <a:latin typeface="Calibri"/>
              </a:rPr>
              <a:t>	</a:t>
            </a:r>
            <a:r>
              <a:rPr b="1" lang="en-US" sz="1600" strike="noStrike" u="none">
                <a:solidFill>
                  <a:srgbClr val="000000"/>
                </a:solidFill>
                <a:uFillTx/>
                <a:latin typeface="Calibri"/>
              </a:rPr>
              <a:t>EPN</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c)</a:t>
            </a:r>
            <a:r>
              <a:rPr b="1" lang="en-US" sz="1600" strike="noStrike" u="none">
                <a:solidFill>
                  <a:srgbClr val="000000"/>
                </a:solidFill>
                <a:uFillTx/>
                <a:latin typeface="Calibri"/>
              </a:rPr>
              <a:t>	</a:t>
            </a:r>
            <a:r>
              <a:rPr b="1" lang="en-US" sz="1600" strike="noStrike" u="none">
                <a:solidFill>
                  <a:srgbClr val="000000"/>
                </a:solidFill>
                <a:uFillTx/>
                <a:latin typeface="Calibri"/>
              </a:rPr>
              <a:t>Thiophosphoric acid</a:t>
            </a:r>
            <a:r>
              <a:rPr b="1" lang="en-US" sz="1600" strike="noStrike" u="none">
                <a:solidFill>
                  <a:srgbClr val="000000"/>
                </a:solidFill>
                <a:uFillTx/>
                <a:latin typeface="Calibri"/>
              </a:rPr>
              <a:t>	</a:t>
            </a:r>
            <a:r>
              <a:rPr b="1" lang="en-US" sz="1600" strike="noStrike" u="none">
                <a:solidFill>
                  <a:srgbClr val="000000"/>
                </a:solidFill>
                <a:uFillTx/>
                <a:latin typeface="Calibri"/>
              </a:rPr>
              <a:t>-</a:t>
            </a:r>
            <a:r>
              <a:rPr b="1" lang="en-US" sz="1600" strike="noStrike" u="none">
                <a:solidFill>
                  <a:srgbClr val="000000"/>
                </a:solidFill>
                <a:uFillTx/>
                <a:latin typeface="Calibri"/>
              </a:rPr>
              <a:t>	</a:t>
            </a:r>
            <a:r>
              <a:rPr b="1" lang="en-US" sz="1600" strike="noStrike" u="none">
                <a:solidFill>
                  <a:srgbClr val="000000"/>
                </a:solidFill>
                <a:uFillTx/>
                <a:latin typeface="Calibri"/>
              </a:rPr>
              <a:t>Parathion, Methyl demetan.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d)</a:t>
            </a:r>
            <a:r>
              <a:rPr b="1" lang="en-US" sz="1600" strike="noStrike" u="none">
                <a:solidFill>
                  <a:srgbClr val="000000"/>
                </a:solidFill>
                <a:uFillTx/>
                <a:latin typeface="Calibri"/>
              </a:rPr>
              <a:t>	</a:t>
            </a:r>
            <a:r>
              <a:rPr b="1" lang="en-US" sz="1600" strike="noStrike" u="none">
                <a:solidFill>
                  <a:srgbClr val="000000"/>
                </a:solidFill>
                <a:uFillTx/>
                <a:latin typeface="Calibri"/>
              </a:rPr>
              <a:t>Dithiophosphoric acid </a:t>
            </a:r>
            <a:r>
              <a:rPr b="1" lang="en-US" sz="1600" strike="noStrike" u="none">
                <a:solidFill>
                  <a:srgbClr val="000000"/>
                </a:solidFill>
                <a:uFillTx/>
                <a:latin typeface="Calibri"/>
              </a:rPr>
              <a:t>	</a:t>
            </a:r>
            <a:r>
              <a:rPr b="1" lang="en-US" sz="1600" strike="noStrike" u="none">
                <a:solidFill>
                  <a:srgbClr val="000000"/>
                </a:solidFill>
                <a:uFillTx/>
                <a:latin typeface="Calibri"/>
              </a:rPr>
              <a:t>-</a:t>
            </a:r>
            <a:r>
              <a:rPr b="1" lang="en-US" sz="1600" strike="noStrike" u="none">
                <a:solidFill>
                  <a:srgbClr val="000000"/>
                </a:solidFill>
                <a:uFillTx/>
                <a:latin typeface="Calibri"/>
              </a:rPr>
              <a:t>	</a:t>
            </a:r>
            <a:r>
              <a:rPr b="1" lang="en-US" sz="1600" strike="noStrike" u="none">
                <a:solidFill>
                  <a:srgbClr val="000000"/>
                </a:solidFill>
                <a:uFillTx/>
                <a:latin typeface="Calibri"/>
              </a:rPr>
              <a:t>Malathion, Thimet, Dimethoate.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e)</a:t>
            </a:r>
            <a:r>
              <a:rPr b="1" lang="en-US" sz="1600" strike="noStrike" u="none">
                <a:solidFill>
                  <a:srgbClr val="000000"/>
                </a:solidFill>
                <a:uFillTx/>
                <a:latin typeface="Calibri"/>
              </a:rPr>
              <a:t>	</a:t>
            </a:r>
            <a:r>
              <a:rPr b="1" lang="en-US" sz="1600" strike="noStrike" u="none">
                <a:solidFill>
                  <a:srgbClr val="000000"/>
                </a:solidFill>
                <a:uFillTx/>
                <a:latin typeface="Calibri"/>
              </a:rPr>
              <a:t>Pyrophosphotic acid </a:t>
            </a:r>
            <a:r>
              <a:rPr b="1" lang="en-US" sz="1600" strike="noStrike" u="none">
                <a:solidFill>
                  <a:srgbClr val="000000"/>
                </a:solidFill>
                <a:uFillTx/>
                <a:latin typeface="Calibri"/>
              </a:rPr>
              <a:t>	</a:t>
            </a:r>
            <a:r>
              <a:rPr b="1" lang="en-US" sz="1600" strike="noStrike" u="none">
                <a:solidFill>
                  <a:srgbClr val="000000"/>
                </a:solidFill>
                <a:uFillTx/>
                <a:latin typeface="Calibri"/>
              </a:rPr>
              <a:t>-</a:t>
            </a:r>
            <a:r>
              <a:rPr b="1" lang="en-US" sz="1600" strike="noStrike" u="none">
                <a:solidFill>
                  <a:srgbClr val="000000"/>
                </a:solidFill>
                <a:uFillTx/>
                <a:latin typeface="Calibri"/>
              </a:rPr>
              <a:t>	</a:t>
            </a:r>
            <a:r>
              <a:rPr b="1" lang="en-US" sz="1600" strike="noStrike" u="none">
                <a:solidFill>
                  <a:srgbClr val="000000"/>
                </a:solidFill>
                <a:uFillTx/>
                <a:latin typeface="Calibri"/>
              </a:rPr>
              <a:t>TEPP, Schradden</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f)</a:t>
            </a:r>
            <a:r>
              <a:rPr b="1" lang="en-US" sz="1600" strike="noStrike" u="none">
                <a:solidFill>
                  <a:srgbClr val="000000"/>
                </a:solidFill>
                <a:uFillTx/>
                <a:latin typeface="Calibri"/>
              </a:rPr>
              <a:t>	</a:t>
            </a:r>
            <a:r>
              <a:rPr b="1" lang="en-US" sz="1600" strike="noStrike" u="none">
                <a:solidFill>
                  <a:srgbClr val="000000"/>
                </a:solidFill>
                <a:uFillTx/>
                <a:latin typeface="Calibri"/>
              </a:rPr>
              <a:t>Others</a:t>
            </a:r>
            <a:r>
              <a:rPr b="1" lang="en-US" sz="1600" strike="noStrike" u="none">
                <a:solidFill>
                  <a:srgbClr val="000000"/>
                </a:solidFill>
                <a:uFillTx/>
                <a:latin typeface="Calibri"/>
              </a:rPr>
              <a:t>	</a:t>
            </a:r>
            <a:r>
              <a:rPr b="1" lang="en-US" sz="1600" strike="noStrike" u="none">
                <a:solidFill>
                  <a:srgbClr val="000000"/>
                </a:solidFill>
                <a:uFillTx/>
                <a:latin typeface="Calibri"/>
              </a:rPr>
              <a:t>	</a:t>
            </a:r>
            <a:r>
              <a:rPr b="1" lang="en-US" sz="1600" strike="noStrike" u="none">
                <a:solidFill>
                  <a:srgbClr val="000000"/>
                </a:solidFill>
                <a:uFillTx/>
                <a:latin typeface="Calibri"/>
              </a:rPr>
              <a:t>	</a:t>
            </a:r>
            <a:r>
              <a:rPr b="1" lang="en-US" sz="1600" strike="noStrike" u="none">
                <a:solidFill>
                  <a:srgbClr val="000000"/>
                </a:solidFill>
                <a:uFillTx/>
                <a:latin typeface="Calibri"/>
              </a:rPr>
              <a:t>-</a:t>
            </a:r>
            <a:r>
              <a:rPr b="1" lang="en-US" sz="1600" strike="noStrike" u="none">
                <a:solidFill>
                  <a:srgbClr val="000000"/>
                </a:solidFill>
                <a:uFillTx/>
                <a:latin typeface="Calibri"/>
              </a:rPr>
              <a:t>	</a:t>
            </a:r>
            <a:r>
              <a:rPr b="1" lang="en-US" sz="1600" strike="noStrike" u="none">
                <a:solidFill>
                  <a:srgbClr val="000000"/>
                </a:solidFill>
                <a:uFillTx/>
                <a:latin typeface="Calibri"/>
              </a:rPr>
              <a:t>Jsopestox</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I)Phosphamidon – (Dimecron) C</a:t>
            </a:r>
            <a:r>
              <a:rPr b="1" lang="en-US" sz="1600" strike="noStrike" u="none" baseline="-25000">
                <a:solidFill>
                  <a:srgbClr val="000000"/>
                </a:solidFill>
                <a:uFillTx/>
                <a:latin typeface="Calibri"/>
              </a:rPr>
              <a:t>10</a:t>
            </a:r>
            <a:r>
              <a:rPr b="1" lang="en-US" sz="1600" strike="noStrike" u="none">
                <a:solidFill>
                  <a:srgbClr val="000000"/>
                </a:solidFill>
                <a:uFillTx/>
                <a:latin typeface="Calibri"/>
              </a:rPr>
              <a:t> H</a:t>
            </a:r>
            <a:r>
              <a:rPr b="1" lang="en-US" sz="1600" strike="noStrike" u="none" baseline="-25000">
                <a:solidFill>
                  <a:srgbClr val="000000"/>
                </a:solidFill>
                <a:uFillTx/>
                <a:latin typeface="Calibri"/>
              </a:rPr>
              <a:t>19</a:t>
            </a:r>
            <a:r>
              <a:rPr b="1" lang="en-US" sz="1600" strike="noStrike" u="none">
                <a:solidFill>
                  <a:srgbClr val="000000"/>
                </a:solidFill>
                <a:uFillTx/>
                <a:latin typeface="Calibri"/>
              </a:rPr>
              <a:t> O</a:t>
            </a:r>
            <a:r>
              <a:rPr b="1" lang="en-US" sz="1600" strike="noStrike" u="none" baseline="-25000">
                <a:solidFill>
                  <a:srgbClr val="000000"/>
                </a:solidFill>
                <a:uFillTx/>
                <a:latin typeface="Calibri"/>
              </a:rPr>
              <a:t>5</a:t>
            </a:r>
            <a:r>
              <a:rPr b="1" lang="en-US" sz="1600" strike="noStrike" u="none">
                <a:solidFill>
                  <a:srgbClr val="000000"/>
                </a:solidFill>
                <a:uFillTx/>
                <a:latin typeface="Calibri"/>
              </a:rPr>
              <a:t> NPCl)</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a.Structure – Give structure (O, 0-dimethyl – 0- (2 – chloro – Al- N diethylcarbamyl)- methyl vinyl phosphate).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ii)Parathion – (Thiophos) (10H</a:t>
            </a:r>
            <a:r>
              <a:rPr b="1" lang="en-US" sz="1600" strike="noStrike" u="none" baseline="-25000">
                <a:solidFill>
                  <a:srgbClr val="000000"/>
                </a:solidFill>
                <a:uFillTx/>
                <a:latin typeface="Calibri"/>
              </a:rPr>
              <a:t>14</a:t>
            </a:r>
            <a:r>
              <a:rPr b="1" lang="en-US" sz="1600" strike="noStrike" u="none">
                <a:solidFill>
                  <a:srgbClr val="000000"/>
                </a:solidFill>
                <a:uFillTx/>
                <a:latin typeface="Calibri"/>
              </a:rPr>
              <a:t> NO</a:t>
            </a:r>
            <a:r>
              <a:rPr b="1" lang="en-US" sz="1600" strike="noStrike" u="none" baseline="-25000">
                <a:solidFill>
                  <a:srgbClr val="000000"/>
                </a:solidFill>
                <a:uFillTx/>
                <a:latin typeface="Calibri"/>
              </a:rPr>
              <a:t>5</a:t>
            </a:r>
            <a:r>
              <a:rPr b="1" lang="en-US" sz="1600" strike="noStrike" u="none">
                <a:solidFill>
                  <a:srgbClr val="000000"/>
                </a:solidFill>
                <a:uFillTx/>
                <a:latin typeface="Calibri"/>
              </a:rPr>
              <a:t>S)</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p:txBody>
      </p:sp>
      <p:sp>
        <p:nvSpPr>
          <p:cNvPr id="82" name="TextBox 2"/>
          <p:cNvSpPr/>
          <p:nvPr/>
        </p:nvSpPr>
        <p:spPr>
          <a:xfrm>
            <a:off x="289080" y="372960"/>
            <a:ext cx="749592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Organophosphate insecticides –</a:t>
            </a:r>
            <a:endParaRPr b="0" lang="en-US" sz="24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3" name="Group 5"/>
          <p:cNvGrpSpPr/>
          <p:nvPr/>
        </p:nvGrpSpPr>
        <p:grpSpPr>
          <a:xfrm>
            <a:off x="0" y="5046840"/>
            <a:ext cx="9144000" cy="102960"/>
            <a:chOff x="0" y="5046840"/>
            <a:chExt cx="9144000" cy="102960"/>
          </a:xfrm>
        </p:grpSpPr>
        <p:sp>
          <p:nvSpPr>
            <p:cNvPr id="84"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85"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86"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87" name="Picture 10" descr=""/>
          <p:cNvPicPr/>
          <p:nvPr/>
        </p:nvPicPr>
        <p:blipFill>
          <a:blip r:embed="rId1"/>
          <a:stretch/>
        </p:blipFill>
        <p:spPr>
          <a:xfrm>
            <a:off x="8015400" y="34920"/>
            <a:ext cx="728640" cy="677880"/>
          </a:xfrm>
          <a:prstGeom prst="rect">
            <a:avLst/>
          </a:prstGeom>
          <a:noFill/>
          <a:ln w="0">
            <a:noFill/>
          </a:ln>
        </p:spPr>
      </p:pic>
      <p:sp>
        <p:nvSpPr>
          <p:cNvPr id="88" name="TextBox 1"/>
          <p:cNvSpPr/>
          <p:nvPr/>
        </p:nvSpPr>
        <p:spPr>
          <a:xfrm>
            <a:off x="289080" y="961920"/>
            <a:ext cx="8710560" cy="2562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Mode of action of organophosphates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0" lang="en-US" sz="1800" strike="noStrike" u="none">
                <a:solidFill>
                  <a:srgbClr val="000000"/>
                </a:solidFill>
                <a:uFillTx/>
                <a:latin typeface="Calibri"/>
              </a:rPr>
              <a:t>Organophosphate insecticides affect the enzyme choline esterase (ChE) which is responsible for removal of acetyl choline (Ach) present in synapse (gap between nerve cell).  This results in to continuous transmission of nerve impulses and loss of coordination of nerves and other organs giving rise to rapid twitching of voluntary muscles and finally paralysis of vital organs including langs.  Thus failure of respiration due to paralysis of lungs is the main cause of death.   The reaction of inhibition of choline – esterase is irresersible so OPS are more total compared to carbomates.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9" name="Group 5"/>
          <p:cNvGrpSpPr/>
          <p:nvPr/>
        </p:nvGrpSpPr>
        <p:grpSpPr>
          <a:xfrm>
            <a:off x="0" y="5046840"/>
            <a:ext cx="9144000" cy="102960"/>
            <a:chOff x="0" y="5046840"/>
            <a:chExt cx="9144000" cy="102960"/>
          </a:xfrm>
        </p:grpSpPr>
        <p:sp>
          <p:nvSpPr>
            <p:cNvPr id="90"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91"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92"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93" name="Picture 10" descr=""/>
          <p:cNvPicPr/>
          <p:nvPr/>
        </p:nvPicPr>
        <p:blipFill>
          <a:blip r:embed="rId1"/>
          <a:stretch/>
        </p:blipFill>
        <p:spPr>
          <a:xfrm>
            <a:off x="8015400" y="34920"/>
            <a:ext cx="728640" cy="677880"/>
          </a:xfrm>
          <a:prstGeom prst="rect">
            <a:avLst/>
          </a:prstGeom>
          <a:noFill/>
          <a:ln w="0">
            <a:noFill/>
          </a:ln>
        </p:spPr>
      </p:pic>
      <p:sp>
        <p:nvSpPr>
          <p:cNvPr id="94" name="TextBox 1"/>
          <p:cNvSpPr/>
          <p:nvPr/>
        </p:nvSpPr>
        <p:spPr>
          <a:xfrm>
            <a:off x="216000" y="131760"/>
            <a:ext cx="7700760" cy="947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800" strike="noStrike" u="none">
                <a:solidFill>
                  <a:srgbClr val="000000"/>
                </a:solidFill>
                <a:uFillTx/>
                <a:latin typeface="Calibri"/>
              </a:rPr>
              <a:t>Carbamate insecticides</a:t>
            </a:r>
            <a:endParaRPr b="0" lang="en-US" sz="2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800" strike="noStrike" u="none">
              <a:solidFill>
                <a:srgbClr val="000000"/>
              </a:solidFill>
              <a:uFillTx/>
              <a:latin typeface="Calibri"/>
            </a:endParaRPr>
          </a:p>
        </p:txBody>
      </p:sp>
      <p:sp>
        <p:nvSpPr>
          <p:cNvPr id="95" name="TextBox 2"/>
          <p:cNvSpPr/>
          <p:nvPr/>
        </p:nvSpPr>
        <p:spPr>
          <a:xfrm>
            <a:off x="216000" y="901800"/>
            <a:ext cx="8712000" cy="40366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Carbamate insecticides are esters of carbamic acid (HO-C – NH</a:t>
            </a:r>
            <a:r>
              <a:rPr b="1" lang="en-US" sz="1600" strike="noStrike" u="none" baseline="-25000">
                <a:solidFill>
                  <a:srgbClr val="000000"/>
                </a:solidFill>
                <a:uFillTx/>
                <a:latin typeface="Calibri"/>
              </a:rPr>
              <a:t>2</a:t>
            </a:r>
            <a:r>
              <a:rPr b="1" lang="en-US" sz="1600" strike="noStrike" u="none">
                <a:solidFill>
                  <a:srgbClr val="000000"/>
                </a:solidFill>
                <a:uFillTx/>
                <a:latin typeface="Calibri"/>
              </a:rPr>
              <a:t>).  They have an OCON =     group in the molecule.  They are esters of methyl and dimethyl carbamic acids.  They are classified in to 3 groups as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a)A-methyl carbomate</a:t>
            </a:r>
            <a:r>
              <a:rPr b="1" lang="en-US" sz="1600" strike="noStrike" u="none">
                <a:solidFill>
                  <a:srgbClr val="000000"/>
                </a:solidFill>
                <a:uFillTx/>
                <a:latin typeface="Calibri"/>
              </a:rPr>
              <a:t>	</a:t>
            </a:r>
            <a:r>
              <a:rPr b="1" lang="en-US" sz="1600" strike="noStrike" u="none">
                <a:solidFill>
                  <a:srgbClr val="000000"/>
                </a:solidFill>
                <a:uFillTx/>
                <a:latin typeface="Calibri"/>
              </a:rPr>
              <a:t>- carboryl, carbofuran</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b)N-N-dimethyl carbomate – Isolan and Dimetelan</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c) Oxime carbamate – Aldicarb, methomyl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1)Carbaryl (Sevin) – C</a:t>
            </a:r>
            <a:r>
              <a:rPr b="1" lang="en-US" sz="1600" strike="noStrike" u="none" baseline="-25000">
                <a:solidFill>
                  <a:srgbClr val="000000"/>
                </a:solidFill>
                <a:uFillTx/>
                <a:latin typeface="Calibri"/>
              </a:rPr>
              <a:t>12</a:t>
            </a:r>
            <a:r>
              <a:rPr b="1" lang="en-US" sz="1600" strike="noStrike" u="none">
                <a:solidFill>
                  <a:srgbClr val="000000"/>
                </a:solidFill>
                <a:uFillTx/>
                <a:latin typeface="Calibri"/>
              </a:rPr>
              <a:t>H</a:t>
            </a:r>
            <a:r>
              <a:rPr b="1" lang="en-US" sz="1600" strike="noStrike" u="none" baseline="-25000">
                <a:solidFill>
                  <a:srgbClr val="000000"/>
                </a:solidFill>
                <a:uFillTx/>
                <a:latin typeface="Calibri"/>
              </a:rPr>
              <a:t>11</a:t>
            </a:r>
            <a:r>
              <a:rPr b="1" lang="en-US" sz="1600" strike="noStrike" u="none">
                <a:solidFill>
                  <a:srgbClr val="000000"/>
                </a:solidFill>
                <a:uFillTx/>
                <a:latin typeface="Calibri"/>
              </a:rPr>
              <a:t>O</a:t>
            </a:r>
            <a:r>
              <a:rPr b="1" lang="en-US" sz="1600" strike="noStrike" u="none" baseline="-25000">
                <a:solidFill>
                  <a:srgbClr val="000000"/>
                </a:solidFill>
                <a:uFillTx/>
                <a:latin typeface="Calibri"/>
              </a:rPr>
              <a:t>2</a:t>
            </a:r>
            <a:r>
              <a:rPr b="1" lang="en-US" sz="1600" strike="noStrike" u="none">
                <a:solidFill>
                  <a:srgbClr val="000000"/>
                </a:solidFill>
                <a:uFillTx/>
                <a:latin typeface="Calibri"/>
              </a:rPr>
              <a:t>N – 1-Naphyl-N methyl carbamate give structure and properties.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2)Carbofuran (Furadan) </a:t>
            </a:r>
            <a:r>
              <a:rPr b="1" lang="en-US" sz="1600" strike="noStrike" u="none">
                <a:solidFill>
                  <a:srgbClr val="000000"/>
                </a:solidFill>
                <a:uFillTx/>
                <a:latin typeface="Calibri"/>
              </a:rPr>
              <a:t>	</a:t>
            </a:r>
            <a:r>
              <a:rPr b="1" lang="en-US" sz="1600" strike="noStrike" u="none">
                <a:solidFill>
                  <a:srgbClr val="000000"/>
                </a:solidFill>
                <a:uFillTx/>
                <a:latin typeface="Calibri"/>
              </a:rPr>
              <a:t>- C</a:t>
            </a:r>
            <a:r>
              <a:rPr b="1" lang="en-US" sz="1600" strike="noStrike" u="none" baseline="-25000">
                <a:solidFill>
                  <a:srgbClr val="000000"/>
                </a:solidFill>
                <a:uFillTx/>
                <a:latin typeface="Calibri"/>
              </a:rPr>
              <a:t>12</a:t>
            </a:r>
            <a:r>
              <a:rPr b="1" lang="en-US" sz="1600" strike="noStrike" u="none">
                <a:solidFill>
                  <a:srgbClr val="000000"/>
                </a:solidFill>
                <a:uFillTx/>
                <a:latin typeface="Calibri"/>
              </a:rPr>
              <a:t>H</a:t>
            </a:r>
            <a:r>
              <a:rPr b="1" lang="en-US" sz="1600" strike="noStrike" u="none" baseline="-25000">
                <a:solidFill>
                  <a:srgbClr val="000000"/>
                </a:solidFill>
                <a:uFillTx/>
                <a:latin typeface="Calibri"/>
              </a:rPr>
              <a:t>18</a:t>
            </a:r>
            <a:r>
              <a:rPr b="1" lang="en-US" sz="1600" strike="noStrike" u="none">
                <a:solidFill>
                  <a:srgbClr val="000000"/>
                </a:solidFill>
                <a:uFillTx/>
                <a:latin typeface="Calibri"/>
              </a:rPr>
              <a:t>NO</a:t>
            </a:r>
            <a:r>
              <a:rPr b="1" lang="en-US" sz="1600" strike="noStrike" u="none" baseline="-25000">
                <a:solidFill>
                  <a:srgbClr val="000000"/>
                </a:solidFill>
                <a:uFillTx/>
                <a:latin typeface="Calibri"/>
              </a:rPr>
              <a:t>3</a:t>
            </a:r>
            <a:r>
              <a:rPr b="1" lang="en-US" sz="1600" strike="noStrike" u="none" baseline="30000">
                <a:solidFill>
                  <a:srgbClr val="000000"/>
                </a:solidFill>
                <a:uFillTx/>
                <a:latin typeface="Calibri"/>
              </a:rPr>
              <a:t>-</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                    </a:t>
            </a:r>
            <a:r>
              <a:rPr b="1" lang="en-US" sz="1600" strike="noStrike" u="none">
                <a:solidFill>
                  <a:srgbClr val="000000"/>
                </a:solidFill>
                <a:uFillTx/>
                <a:latin typeface="Calibri"/>
              </a:rPr>
              <a:t>2, 3 dihydro 2, 2-dimethyl – 7 – benzoturanyl – N methyl carbamate</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3)Aldicarb (Temik) C</a:t>
            </a:r>
            <a:r>
              <a:rPr b="1" lang="en-US" sz="1600" strike="noStrike" u="none" baseline="-25000">
                <a:solidFill>
                  <a:srgbClr val="000000"/>
                </a:solidFill>
                <a:uFillTx/>
                <a:latin typeface="Calibri"/>
              </a:rPr>
              <a:t>7</a:t>
            </a:r>
            <a:r>
              <a:rPr b="1" lang="en-US" sz="1600" strike="noStrike" u="none">
                <a:solidFill>
                  <a:srgbClr val="000000"/>
                </a:solidFill>
                <a:uFillTx/>
                <a:latin typeface="Calibri"/>
              </a:rPr>
              <a:t>H</a:t>
            </a:r>
            <a:r>
              <a:rPr b="1" lang="en-US" sz="1600" strike="noStrike" u="none" baseline="-25000">
                <a:solidFill>
                  <a:srgbClr val="000000"/>
                </a:solidFill>
                <a:uFillTx/>
                <a:latin typeface="Calibri"/>
              </a:rPr>
              <a:t>14</a:t>
            </a:r>
            <a:r>
              <a:rPr b="1" lang="en-US" sz="1600" strike="noStrike" u="none">
                <a:solidFill>
                  <a:srgbClr val="000000"/>
                </a:solidFill>
                <a:uFillTx/>
                <a:latin typeface="Calibri"/>
              </a:rPr>
              <a:t>SN</a:t>
            </a:r>
            <a:r>
              <a:rPr b="1" lang="en-US" sz="1600" strike="noStrike" u="none" baseline="-25000">
                <a:solidFill>
                  <a:srgbClr val="000000"/>
                </a:solidFill>
                <a:uFillTx/>
                <a:latin typeface="Calibri"/>
              </a:rPr>
              <a:t>2</a:t>
            </a:r>
            <a:r>
              <a:rPr b="1" lang="en-US" sz="1600" strike="noStrike" u="none">
                <a:solidFill>
                  <a:srgbClr val="000000"/>
                </a:solidFill>
                <a:uFillTx/>
                <a:latin typeface="Calibri"/>
              </a:rPr>
              <a:t>O</a:t>
            </a:r>
            <a:r>
              <a:rPr b="1" lang="en-US" sz="1600" strike="noStrike" u="none" baseline="-25000">
                <a:solidFill>
                  <a:srgbClr val="000000"/>
                </a:solidFill>
                <a:uFillTx/>
                <a:latin typeface="Calibri"/>
              </a:rPr>
              <a:t>2</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          </a:t>
            </a:r>
            <a:r>
              <a:rPr b="1" lang="en-US" sz="1600" strike="noStrike" u="none">
                <a:solidFill>
                  <a:srgbClr val="000000"/>
                </a:solidFill>
                <a:uFillTx/>
                <a:latin typeface="Calibri"/>
              </a:rPr>
              <a:t>2-methyl-2 (methylthio) propionaldehyde 0-(methyl carbamate) Oxime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Mode of action – Similar to organophosphorus insectides.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6" name="Group 5"/>
          <p:cNvGrpSpPr/>
          <p:nvPr/>
        </p:nvGrpSpPr>
        <p:grpSpPr>
          <a:xfrm>
            <a:off x="0" y="5046840"/>
            <a:ext cx="9144000" cy="102960"/>
            <a:chOff x="0" y="5046840"/>
            <a:chExt cx="9144000" cy="102960"/>
          </a:xfrm>
        </p:grpSpPr>
        <p:sp>
          <p:nvSpPr>
            <p:cNvPr id="97"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98"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99"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00" name="Picture 10" descr=""/>
          <p:cNvPicPr/>
          <p:nvPr/>
        </p:nvPicPr>
        <p:blipFill>
          <a:blip r:embed="rId1"/>
          <a:stretch/>
        </p:blipFill>
        <p:spPr>
          <a:xfrm>
            <a:off x="8015400" y="34920"/>
            <a:ext cx="728640" cy="677880"/>
          </a:xfrm>
          <a:prstGeom prst="rect">
            <a:avLst/>
          </a:prstGeom>
          <a:noFill/>
          <a:ln w="0">
            <a:noFill/>
          </a:ln>
        </p:spPr>
      </p:pic>
      <p:sp>
        <p:nvSpPr>
          <p:cNvPr id="101" name="TextBox 1"/>
          <p:cNvSpPr/>
          <p:nvPr/>
        </p:nvSpPr>
        <p:spPr>
          <a:xfrm>
            <a:off x="349200" y="34920"/>
            <a:ext cx="863748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Lect 31 and  32: Herbicides – Major classes – properties and uses </a:t>
            </a:r>
            <a:endParaRPr b="0" lang="en-US" sz="2000" strike="noStrike" u="none">
              <a:solidFill>
                <a:srgbClr val="000000"/>
              </a:solidFill>
              <a:uFillTx/>
              <a:latin typeface="Calibri"/>
            </a:endParaRPr>
          </a:p>
        </p:txBody>
      </p:sp>
      <p:sp>
        <p:nvSpPr>
          <p:cNvPr id="102" name="TextBox 2"/>
          <p:cNvSpPr/>
          <p:nvPr/>
        </p:nvSpPr>
        <p:spPr>
          <a:xfrm>
            <a:off x="349200" y="927000"/>
            <a:ext cx="8031240" cy="4457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A herbicide in the broadest sense of word is any compound that is capable of either killing or severely injuring plants and may thus be used for elimination of plant growth or killing of plant parts.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Classes of herbicides based as</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1.Method of application---Pre-emergence</a:t>
            </a:r>
            <a:r>
              <a:rPr b="0" lang="en-US" sz="1300" strike="noStrike" u="none">
                <a:solidFill>
                  <a:srgbClr val="000000"/>
                </a:solidFill>
                <a:uFillTx/>
                <a:latin typeface="Calibri"/>
              </a:rPr>
              <a:t>	</a:t>
            </a:r>
            <a:r>
              <a:rPr b="0" lang="en-US" sz="1300" strike="noStrike" u="none">
                <a:solidFill>
                  <a:srgbClr val="000000"/>
                </a:solidFill>
                <a:uFillTx/>
                <a:latin typeface="Calibri"/>
              </a:rPr>
              <a:t>Post emergence</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Mote of action -------Contact Herbicides </a:t>
            </a:r>
            <a:r>
              <a:rPr b="0" lang="en-US" sz="1300" strike="noStrike" u="none">
                <a:solidFill>
                  <a:srgbClr val="000000"/>
                </a:solidFill>
                <a:uFillTx/>
                <a:latin typeface="Calibri"/>
              </a:rPr>
              <a:t>	</a:t>
            </a:r>
            <a:r>
              <a:rPr b="0" lang="en-US" sz="1300" strike="noStrike" u="none">
                <a:solidFill>
                  <a:srgbClr val="000000"/>
                </a:solidFill>
                <a:uFillTx/>
                <a:latin typeface="Calibri"/>
              </a:rPr>
              <a:t>	</a:t>
            </a:r>
            <a:r>
              <a:rPr b="0" lang="en-US" sz="1300" strike="noStrike" u="none">
                <a:solidFill>
                  <a:srgbClr val="000000"/>
                </a:solidFill>
                <a:uFillTx/>
                <a:latin typeface="Calibri"/>
              </a:rPr>
              <a:t>Translocated herbicides</a:t>
            </a:r>
            <a:r>
              <a:rPr b="0" lang="en-US" sz="1300" strike="noStrike" u="none">
                <a:solidFill>
                  <a:srgbClr val="000000"/>
                </a:solidFill>
                <a:uFillTx/>
                <a:latin typeface="Calibri"/>
              </a:rPr>
              <a:t>	</a:t>
            </a:r>
            <a:r>
              <a:rPr b="0" lang="en-US" sz="1300" strike="noStrike" u="none">
                <a:solidFill>
                  <a:srgbClr val="000000"/>
                </a:solidFill>
                <a:uFillTx/>
                <a:latin typeface="Calibri"/>
              </a:rPr>
              <a:t>Residuel herbicide</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Based up an chemical ----------</a:t>
            </a:r>
            <a:r>
              <a:rPr b="0" lang="en-US" sz="1300" strike="noStrike" u="none">
                <a:solidFill>
                  <a:srgbClr val="000000"/>
                </a:solidFill>
                <a:uFillTx/>
                <a:latin typeface="Calibri"/>
              </a:rPr>
              <a:t>	</a:t>
            </a:r>
            <a:r>
              <a:rPr b="0" lang="en-US" sz="1300" strike="noStrike" u="none">
                <a:solidFill>
                  <a:srgbClr val="000000"/>
                </a:solidFill>
                <a:uFillTx/>
                <a:latin typeface="Calibri"/>
              </a:rPr>
              <a:t>affimit and agricultural   simulation</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Inorganic</a:t>
            </a:r>
            <a:r>
              <a:rPr b="0" lang="en-US" sz="1300" strike="noStrike" u="none">
                <a:solidFill>
                  <a:srgbClr val="000000"/>
                </a:solidFill>
                <a:uFillTx/>
                <a:latin typeface="Calibri"/>
              </a:rPr>
              <a:t>	</a:t>
            </a:r>
            <a:r>
              <a:rPr b="0" lang="en-US" sz="1300" strike="noStrike" u="none">
                <a:solidFill>
                  <a:srgbClr val="000000"/>
                </a:solidFill>
                <a:uFillTx/>
                <a:latin typeface="Calibri"/>
              </a:rPr>
              <a:t>	</a:t>
            </a:r>
            <a:r>
              <a:rPr b="0" lang="en-US" sz="1300" strike="noStrike" u="none">
                <a:solidFill>
                  <a:srgbClr val="000000"/>
                </a:solidFill>
                <a:uFillTx/>
                <a:latin typeface="Calibri"/>
              </a:rPr>
              <a:t>	</a:t>
            </a:r>
            <a:r>
              <a:rPr b="0" lang="en-US" sz="1300" strike="noStrike" u="none">
                <a:solidFill>
                  <a:srgbClr val="000000"/>
                </a:solidFill>
                <a:uFillTx/>
                <a:latin typeface="Calibri"/>
              </a:rPr>
              <a:t>	</a:t>
            </a:r>
            <a:r>
              <a:rPr b="0" lang="en-US" sz="1300" strike="noStrike" u="none">
                <a:solidFill>
                  <a:srgbClr val="000000"/>
                </a:solidFill>
                <a:uFillTx/>
                <a:latin typeface="Calibri"/>
              </a:rPr>
              <a:t>Organic</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CLASSIFICATION OF HERBICIDES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1) Based on Method of application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i) Soil applied herbicides</a:t>
            </a:r>
            <a:r>
              <a:rPr b="0" lang="en-US" sz="1300" strike="noStrike" u="none">
                <a:solidFill>
                  <a:srgbClr val="000000"/>
                </a:solidFill>
                <a:uFillTx/>
                <a:latin typeface="Calibri"/>
              </a:rPr>
              <a:t>: Herbicide act through root and other underground parts of weeds. Eg. Fluchloralin</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 </a:t>
            </a:r>
            <a:r>
              <a:rPr b="0" lang="en-US" sz="1300" strike="noStrike" u="none">
                <a:solidFill>
                  <a:srgbClr val="000000"/>
                </a:solidFill>
                <a:uFillTx/>
                <a:latin typeface="Calibri"/>
              </a:rPr>
              <a:t>ii) Foliage applied herbicides: Herbicide primarily active on the plant foliage Eg.Glyphosate, Paraquat</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2) Based on Mode of action</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 </a:t>
            </a:r>
            <a:r>
              <a:rPr b="1" lang="en-US" sz="1300" strike="noStrike" u="none">
                <a:solidFill>
                  <a:srgbClr val="000000"/>
                </a:solidFill>
                <a:uFillTx/>
                <a:latin typeface="Calibri"/>
              </a:rPr>
              <a:t>i) Selective herbicide: </a:t>
            </a:r>
            <a:r>
              <a:rPr b="0" lang="en-US" sz="1300" strike="noStrike" u="none">
                <a:solidFill>
                  <a:srgbClr val="000000"/>
                </a:solidFill>
                <a:uFillTx/>
                <a:latin typeface="Calibri"/>
              </a:rPr>
              <a:t>A herbicide is considered as selective when in a mixed growth of plant species, it kills some species without injuring the others. Eg. Atrazine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ii) Non-selective herbicide: </a:t>
            </a:r>
            <a:r>
              <a:rPr b="0" lang="en-US" sz="1300" strike="noStrike" u="none">
                <a:solidFill>
                  <a:srgbClr val="000000"/>
                </a:solidFill>
                <a:uFillTx/>
                <a:latin typeface="Calibri"/>
              </a:rPr>
              <a:t>It destroys majority of treated vegetation Eg. Paraquat 3 Based on mobility </a:t>
            </a:r>
            <a:endParaRPr b="0" lang="en-US" sz="1300" strike="noStrike" u="none">
              <a:solidFill>
                <a:srgbClr val="000000"/>
              </a:solidFill>
              <a:uFillTx/>
              <a:latin typeface="Calibri"/>
            </a:endParaRPr>
          </a:p>
          <a:p>
            <a:pPr>
              <a:buClr>
                <a:srgbClr val="000000"/>
              </a:buClr>
              <a:buFont typeface="Calibri"/>
              <a:buAutoNum type="romanL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Contact herbicide</a:t>
            </a:r>
            <a:r>
              <a:rPr b="0" lang="en-US" sz="1300" strike="noStrike" u="none">
                <a:solidFill>
                  <a:srgbClr val="000000"/>
                </a:solidFill>
                <a:uFillTx/>
                <a:latin typeface="Calibri"/>
              </a:rPr>
              <a:t>: A contact herbicide kills those plant parts with which it comes in direct contact Eg. Paraquat </a:t>
            </a:r>
            <a:endParaRPr b="0" lang="en-US" sz="1300" strike="noStrike" u="none">
              <a:solidFill>
                <a:srgbClr val="000000"/>
              </a:solidFill>
              <a:uFillTx/>
              <a:latin typeface="Calibri"/>
            </a:endParaRPr>
          </a:p>
          <a:p>
            <a:pPr>
              <a:buClr>
                <a:srgbClr val="000000"/>
              </a:buClr>
              <a:buFont typeface="Calibri"/>
              <a:buAutoNum type="romanL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 </a:t>
            </a:r>
            <a:r>
              <a:rPr b="1" lang="en-US" sz="1300" strike="noStrike" u="none">
                <a:solidFill>
                  <a:srgbClr val="000000"/>
                </a:solidFill>
                <a:uFillTx/>
                <a:latin typeface="Calibri"/>
              </a:rPr>
              <a:t>Translocated herbicide</a:t>
            </a:r>
            <a:r>
              <a:rPr b="0" lang="en-US" sz="1300" strike="noStrike" u="none">
                <a:solidFill>
                  <a:srgbClr val="000000"/>
                </a:solidFill>
                <a:uFillTx/>
                <a:latin typeface="Calibri"/>
              </a:rPr>
              <a:t>: Herbicide which tends to move from treated part to untreated areas through xylem / phloem depending on the nature of its molecule. Eg. Glyphosate</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	</a:t>
            </a:r>
            <a:r>
              <a:rPr b="0" lang="en-US" sz="1300" strike="noStrike" u="none">
                <a:solidFill>
                  <a:srgbClr val="000000"/>
                </a:solidFill>
                <a:uFillTx/>
                <a:latin typeface="Calibri"/>
              </a:rPr>
              <a:t>	</a:t>
            </a:r>
            <a:r>
              <a:rPr b="0" lang="en-US" sz="1300" strike="noStrike" u="none">
                <a:solidFill>
                  <a:srgbClr val="000000"/>
                </a:solidFill>
                <a:uFillTx/>
                <a:latin typeface="Calibri"/>
              </a:rPr>
              <a:t>	</a:t>
            </a:r>
            <a:r>
              <a:rPr b="0" lang="en-US" sz="1300" strike="noStrike" u="none">
                <a:solidFill>
                  <a:srgbClr val="000000"/>
                </a:solidFill>
                <a:uFillTx/>
                <a:latin typeface="Calibri"/>
              </a:rPr>
              <a:t>	</a:t>
            </a: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3" name="Group 5"/>
          <p:cNvGrpSpPr/>
          <p:nvPr/>
        </p:nvGrpSpPr>
        <p:grpSpPr>
          <a:xfrm>
            <a:off x="0" y="5046840"/>
            <a:ext cx="9144000" cy="102960"/>
            <a:chOff x="0" y="5046840"/>
            <a:chExt cx="9144000" cy="102960"/>
          </a:xfrm>
        </p:grpSpPr>
        <p:sp>
          <p:nvSpPr>
            <p:cNvPr id="104"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05"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06"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07" name="Picture 10" descr=""/>
          <p:cNvPicPr/>
          <p:nvPr/>
        </p:nvPicPr>
        <p:blipFill>
          <a:blip r:embed="rId1"/>
          <a:stretch/>
        </p:blipFill>
        <p:spPr>
          <a:xfrm>
            <a:off x="8015400" y="34920"/>
            <a:ext cx="728640" cy="677880"/>
          </a:xfrm>
          <a:prstGeom prst="rect">
            <a:avLst/>
          </a:prstGeom>
          <a:noFill/>
          <a:ln w="0">
            <a:noFill/>
          </a:ln>
        </p:spPr>
      </p:pic>
      <p:sp>
        <p:nvSpPr>
          <p:cNvPr id="108" name="TextBox 1"/>
          <p:cNvSpPr/>
          <p:nvPr/>
        </p:nvSpPr>
        <p:spPr>
          <a:xfrm>
            <a:off x="204840" y="914400"/>
            <a:ext cx="8539200" cy="36644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3 Based on mobility</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 </a:t>
            </a:r>
            <a:r>
              <a:rPr b="1" lang="en-US" sz="1300" strike="noStrike" u="none">
                <a:solidFill>
                  <a:srgbClr val="000000"/>
                </a:solidFill>
                <a:uFillTx/>
                <a:latin typeface="Calibri"/>
              </a:rPr>
              <a:t>i) Contact herbicide</a:t>
            </a:r>
            <a:r>
              <a:rPr b="0" lang="en-US" sz="1300" strike="noStrike" u="none">
                <a:solidFill>
                  <a:srgbClr val="000000"/>
                </a:solidFill>
                <a:uFillTx/>
                <a:latin typeface="Calibri"/>
              </a:rPr>
              <a:t>: A contact herbicide kills those plant parts with which it comes in direct contact Eg. Paraquat</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 </a:t>
            </a:r>
            <a:r>
              <a:rPr b="1" lang="en-US" sz="1300" strike="noStrike" u="none">
                <a:solidFill>
                  <a:srgbClr val="000000"/>
                </a:solidFill>
                <a:uFillTx/>
                <a:latin typeface="Calibri"/>
              </a:rPr>
              <a:t>ii) Translocated herbicide</a:t>
            </a:r>
            <a:r>
              <a:rPr b="0" lang="en-US" sz="1300" strike="noStrike" u="none">
                <a:solidFill>
                  <a:srgbClr val="000000"/>
                </a:solidFill>
                <a:uFillTx/>
                <a:latin typeface="Calibri"/>
              </a:rPr>
              <a:t>: Herbicide which tends to move from treated part to untreated areas through xylem / phloem depending on the nature of its molecule. Eg. Glyphosate</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4) Based on Time of application</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 </a:t>
            </a:r>
            <a:r>
              <a:rPr b="0" lang="en-US" sz="1300" strike="noStrike" u="none">
                <a:solidFill>
                  <a:srgbClr val="000000"/>
                </a:solidFill>
                <a:uFillTx/>
                <a:latin typeface="Calibri"/>
              </a:rPr>
              <a:t>i) </a:t>
            </a:r>
            <a:r>
              <a:rPr b="1" lang="en-US" sz="1300" strike="noStrike" u="none">
                <a:solidFill>
                  <a:srgbClr val="000000"/>
                </a:solidFill>
                <a:uFillTx/>
                <a:latin typeface="Calibri"/>
              </a:rPr>
              <a:t>Pre - plant application (PPI) </a:t>
            </a:r>
            <a:r>
              <a:rPr b="0" lang="en-US" sz="1300" strike="noStrike" u="none">
                <a:solidFill>
                  <a:srgbClr val="000000"/>
                </a:solidFill>
                <a:uFillTx/>
                <a:latin typeface="Calibri"/>
              </a:rPr>
              <a:t>Application of herbicides before the crop is planted or sown. Soil application as well as foliar application is done here. For example, fluchloralin can be applied to soil and incorporated before sowing rainfed groundnut while glyphosate can be applied on the foliage of perennial weeds like Cyperus rotundus before planting of any crop.</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ii) Pre</a:t>
            </a:r>
            <a:r>
              <a:rPr b="1" lang="en-US" sz="1300" strike="noStrike" u="none">
                <a:solidFill>
                  <a:srgbClr val="000000"/>
                </a:solidFill>
                <a:uFillTx/>
                <a:latin typeface="Calibri"/>
              </a:rPr>
              <a:t> – emergence-----</a:t>
            </a:r>
            <a:r>
              <a:rPr b="0" lang="en-US" sz="1300" strike="noStrike" u="none">
                <a:solidFill>
                  <a:srgbClr val="000000"/>
                </a:solidFill>
                <a:uFillTx/>
                <a:latin typeface="Calibri"/>
              </a:rPr>
              <a:t>Application of herbicides before a crop or weed has emerged. In case of annual crops application is done after the sowing of the crop but before the emergence of weeds and this is referred as pre-emergence to the crop while in the case perennial crops it can be said as pre-emergence to weeds.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iii) </a:t>
            </a:r>
            <a:r>
              <a:rPr b="1" lang="en-US" sz="1300" strike="noStrike" u="none">
                <a:solidFill>
                  <a:srgbClr val="000000"/>
                </a:solidFill>
                <a:uFillTx/>
                <a:latin typeface="Calibri"/>
              </a:rPr>
              <a:t>Post – emergence Herbicide </a:t>
            </a:r>
            <a:r>
              <a:rPr b="0" lang="en-US" sz="1300" strike="noStrike" u="none">
                <a:solidFill>
                  <a:srgbClr val="000000"/>
                </a:solidFill>
                <a:uFillTx/>
                <a:latin typeface="Calibri"/>
              </a:rPr>
              <a:t>application after the emergence of crop or weed is referred as postemergence application. When the weeds grow before the crop plants have emerged through the soil and are killed with a herbicide then it is called as early postemergence. For example spraying 2,4-D Na salt to control parasitic weed striga in sugarcane is called as post-emergence while spraying of paraquat to control emerged weeds after 10-15 days after planting potato can be called as early postemergence. Eg. Glyphosate, Paraquat, 2,4-D Na Salt.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300" strike="noStrike" u="none">
                <a:solidFill>
                  <a:srgbClr val="000000"/>
                </a:solidFill>
                <a:uFillTx/>
                <a:latin typeface="Calibri"/>
              </a:rPr>
              <a:t>iv) </a:t>
            </a:r>
            <a:r>
              <a:rPr b="1" lang="en-US" sz="1300" strike="noStrike" u="none">
                <a:solidFill>
                  <a:srgbClr val="000000"/>
                </a:solidFill>
                <a:uFillTx/>
                <a:latin typeface="Calibri"/>
              </a:rPr>
              <a:t>Early post emergence</a:t>
            </a:r>
            <a:r>
              <a:rPr b="0" lang="en-US" sz="1300" strike="noStrike" u="none">
                <a:solidFill>
                  <a:srgbClr val="000000"/>
                </a:solidFill>
                <a:uFillTx/>
                <a:latin typeface="Calibri"/>
              </a:rPr>
              <a:t>: Another application of herbicide in the slow growing crops like potato, sugarcane, 2-3 week after sowing is classified as early post emergence. </a:t>
            </a: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9" name="Group 5"/>
          <p:cNvGrpSpPr/>
          <p:nvPr/>
        </p:nvGrpSpPr>
        <p:grpSpPr>
          <a:xfrm>
            <a:off x="0" y="5046840"/>
            <a:ext cx="9144000" cy="102960"/>
            <a:chOff x="0" y="5046840"/>
            <a:chExt cx="9144000" cy="102960"/>
          </a:xfrm>
        </p:grpSpPr>
        <p:sp>
          <p:nvSpPr>
            <p:cNvPr id="110"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11"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12"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13" name="Picture 10" descr=""/>
          <p:cNvPicPr/>
          <p:nvPr/>
        </p:nvPicPr>
        <p:blipFill>
          <a:blip r:embed="rId1"/>
          <a:stretch/>
        </p:blipFill>
        <p:spPr>
          <a:xfrm>
            <a:off x="8015400" y="34920"/>
            <a:ext cx="728640" cy="677880"/>
          </a:xfrm>
          <a:prstGeom prst="rect">
            <a:avLst/>
          </a:prstGeom>
          <a:noFill/>
          <a:ln w="0">
            <a:noFill/>
          </a:ln>
        </p:spPr>
      </p:pic>
      <p:sp>
        <p:nvSpPr>
          <p:cNvPr id="114" name="TextBox 1"/>
          <p:cNvSpPr/>
          <p:nvPr/>
        </p:nvSpPr>
        <p:spPr>
          <a:xfrm>
            <a:off x="168120" y="1011240"/>
            <a:ext cx="8759880" cy="3749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General mode of action of herbicides.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1.Photosynthetic poisons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a.Interfere with Hill’s reaction </a:t>
            </a:r>
            <a:r>
              <a:rPr b="0" lang="en-US" sz="1600" strike="noStrike" u="none">
                <a:solidFill>
                  <a:srgbClr val="000000"/>
                </a:solidFill>
                <a:uFillTx/>
                <a:latin typeface="Calibri"/>
              </a:rPr>
              <a:t>– In photolysis of water here is evolution of oxygen which is interfered by herbicides like triazines, carbamates, urea derivatives then interference will dead to no supply of oxygen.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b.Some interference in Electron transport chain </a:t>
            </a:r>
            <a:r>
              <a:rPr b="0" lang="en-US" sz="1600" strike="noStrike" u="none">
                <a:solidFill>
                  <a:srgbClr val="000000"/>
                </a:solidFill>
                <a:uFillTx/>
                <a:latin typeface="Calibri"/>
              </a:rPr>
              <a:t>– herbicides like paraquat, diquat, Bipyrillidium, after several stages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2.Those interfere with cellulor metabolisms </a:t>
            </a:r>
            <a:r>
              <a:rPr b="0" lang="en-US" sz="1600" strike="noStrike" u="none">
                <a:solidFill>
                  <a:srgbClr val="000000"/>
                </a:solidFill>
                <a:uFillTx/>
                <a:latin typeface="Calibri"/>
              </a:rPr>
              <a:t>– herbicides lil 2-4-D, phenoxy acids and benzoic acid series results in to an controlled growth leading to collapse of xylem, phloemce and plant die.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3.Interference in the protein metabolism – herbicid like butachlor interfere in protein metabolisum resulting in stunted root growth there by shortening of stem, etc and plant may die.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600" strike="noStrike" u="none">
                <a:solidFill>
                  <a:srgbClr val="000000"/>
                </a:solidFill>
                <a:uFillTx/>
                <a:latin typeface="Calibri"/>
              </a:rPr>
              <a:t>4.Uncoupling of oxidative phosphoralation </a:t>
            </a:r>
            <a:r>
              <a:rPr b="0" lang="en-US" sz="1600" strike="noStrike" u="none">
                <a:solidFill>
                  <a:srgbClr val="000000"/>
                </a:solidFill>
                <a:uFillTx/>
                <a:latin typeface="Calibri"/>
              </a:rPr>
              <a:t>– herbicides like DNOC, MSMA and even arsenic containing herebicides inter in the oxidative phosphorelation process and there is no format of ATP. Plant does not set emerge and it dies.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5" name="Group 5"/>
          <p:cNvGrpSpPr/>
          <p:nvPr/>
        </p:nvGrpSpPr>
        <p:grpSpPr>
          <a:xfrm>
            <a:off x="0" y="5046840"/>
            <a:ext cx="9144000" cy="102960"/>
            <a:chOff x="0" y="5046840"/>
            <a:chExt cx="9144000" cy="102960"/>
          </a:xfrm>
        </p:grpSpPr>
        <p:sp>
          <p:nvSpPr>
            <p:cNvPr id="116"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17"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18"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19" name="Picture 10" descr=""/>
          <p:cNvPicPr/>
          <p:nvPr/>
        </p:nvPicPr>
        <p:blipFill>
          <a:blip r:embed="rId1"/>
          <a:stretch/>
        </p:blipFill>
        <p:spPr>
          <a:xfrm>
            <a:off x="8015400" y="34920"/>
            <a:ext cx="728640" cy="677880"/>
          </a:xfrm>
          <a:prstGeom prst="rect">
            <a:avLst/>
          </a:prstGeom>
          <a:noFill/>
          <a:ln w="0">
            <a:noFill/>
          </a:ln>
        </p:spPr>
      </p:pic>
      <p:sp>
        <p:nvSpPr>
          <p:cNvPr id="120" name="TextBox 1"/>
          <p:cNvSpPr/>
          <p:nvPr/>
        </p:nvSpPr>
        <p:spPr>
          <a:xfrm>
            <a:off x="204840" y="204840"/>
            <a:ext cx="451152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400" strike="noStrike" u="none">
                <a:solidFill>
                  <a:srgbClr val="000000"/>
                </a:solidFill>
                <a:uFillTx/>
                <a:latin typeface="Calibri"/>
              </a:rPr>
              <a:t>Lect 33-34: Fungicides</a:t>
            </a:r>
            <a:endParaRPr b="0" lang="en-US" sz="2400" strike="noStrike" u="none">
              <a:solidFill>
                <a:srgbClr val="000000"/>
              </a:solidFill>
              <a:uFillTx/>
              <a:latin typeface="Calibri"/>
            </a:endParaRPr>
          </a:p>
        </p:txBody>
      </p:sp>
      <p:sp>
        <p:nvSpPr>
          <p:cNvPr id="121" name="TextBox 2"/>
          <p:cNvSpPr/>
          <p:nvPr/>
        </p:nvSpPr>
        <p:spPr>
          <a:xfrm>
            <a:off x="360360" y="1058760"/>
            <a:ext cx="8145360" cy="25333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Fungicides are chemicals that have the ability to reduce or prevent the damage caused by fungi in plants and their products.</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 </a:t>
            </a:r>
            <a:r>
              <a:rPr b="0" lang="en-US" sz="2000" strike="noStrike" u="none">
                <a:solidFill>
                  <a:srgbClr val="000000"/>
                </a:solidFill>
                <a:uFillTx/>
                <a:latin typeface="Calibri"/>
              </a:rPr>
              <a:t>Fungicides are biocidal chemical compounds used to kill parasitic fungi or their spores.</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Classification of fungicides </a:t>
            </a:r>
            <a:endParaRPr b="0" lang="en-US" sz="20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On the basis of use </a:t>
            </a:r>
            <a:endParaRPr b="0" lang="en-US" sz="20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Protective Curative </a:t>
            </a:r>
            <a:endParaRPr b="0" lang="en-US" sz="20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Eradicants </a:t>
            </a:r>
            <a:endParaRPr b="0" lang="en-US" sz="20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2" name="Group 5"/>
          <p:cNvGrpSpPr/>
          <p:nvPr/>
        </p:nvGrpSpPr>
        <p:grpSpPr>
          <a:xfrm>
            <a:off x="0" y="5046840"/>
            <a:ext cx="9144000" cy="102960"/>
            <a:chOff x="0" y="5046840"/>
            <a:chExt cx="9144000" cy="102960"/>
          </a:xfrm>
        </p:grpSpPr>
        <p:sp>
          <p:nvSpPr>
            <p:cNvPr id="123"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24"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25"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26" name="Picture 10" descr=""/>
          <p:cNvPicPr/>
          <p:nvPr/>
        </p:nvPicPr>
        <p:blipFill>
          <a:blip r:embed="rId1"/>
          <a:stretch/>
        </p:blipFill>
        <p:spPr>
          <a:xfrm>
            <a:off x="8015400" y="34920"/>
            <a:ext cx="728640" cy="677880"/>
          </a:xfrm>
          <a:prstGeom prst="rect">
            <a:avLst/>
          </a:prstGeom>
          <a:noFill/>
          <a:ln w="0">
            <a:noFill/>
          </a:ln>
        </p:spPr>
      </p:pic>
      <p:sp>
        <p:nvSpPr>
          <p:cNvPr id="127" name="TextBox 1"/>
          <p:cNvSpPr/>
          <p:nvPr/>
        </p:nvSpPr>
        <p:spPr>
          <a:xfrm>
            <a:off x="325440" y="1095480"/>
            <a:ext cx="8613720" cy="3385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 </a:t>
            </a:r>
            <a:r>
              <a:rPr b="1" lang="en-US" sz="1800" strike="noStrike" u="none">
                <a:solidFill>
                  <a:srgbClr val="000000"/>
                </a:solidFill>
                <a:uFillTx/>
                <a:latin typeface="Calibri"/>
              </a:rPr>
              <a:t>.  Protective fungicides </a:t>
            </a:r>
            <a:r>
              <a:rPr b="0" lang="en-US" sz="1800" strike="noStrike" u="none">
                <a:solidFill>
                  <a:srgbClr val="000000"/>
                </a:solidFill>
                <a:uFillTx/>
                <a:latin typeface="Calibri"/>
              </a:rPr>
              <a:t>: They prevent fungal infection by sporocidal activity.. E.g. </a:t>
            </a:r>
            <a:r>
              <a:rPr b="1" lang="en-US" sz="1800" strike="noStrike" u="none">
                <a:solidFill>
                  <a:srgbClr val="000000"/>
                </a:solidFill>
                <a:uFillTx/>
                <a:latin typeface="Calibri"/>
              </a:rPr>
              <a:t>Sulphur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B. Curative fungicides </a:t>
            </a:r>
            <a:r>
              <a:rPr b="0" lang="en-US" sz="1800" strike="noStrike" u="none">
                <a:solidFill>
                  <a:srgbClr val="000000"/>
                </a:solidFill>
                <a:uFillTx/>
                <a:latin typeface="Calibri"/>
              </a:rPr>
              <a:t>: It penetrate cuticle and kill young fungal mycelium growing in the epidermis and this prevents further development of fungal growth. E.g. Organomercurials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C. </a:t>
            </a:r>
            <a:r>
              <a:rPr b="1" lang="en-US" sz="1800" strike="noStrike" u="none">
                <a:solidFill>
                  <a:srgbClr val="000000"/>
                </a:solidFill>
                <a:uFillTx/>
                <a:latin typeface="Calibri"/>
              </a:rPr>
              <a:t>Eradicant fungicides </a:t>
            </a:r>
            <a:r>
              <a:rPr b="0" lang="en-US" sz="1800" strike="noStrike" u="none">
                <a:solidFill>
                  <a:srgbClr val="000000"/>
                </a:solidFill>
                <a:uFillTx/>
                <a:latin typeface="Calibri"/>
              </a:rPr>
              <a:t>: . They are agents that make control of fungus even after the symptoms become visible and that kill both newly developed spores and the mycelium. E.g. Systemic fungicides</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2. On the basis of sources of raw material </a:t>
            </a:r>
            <a:endParaRPr b="0" lang="en-US" sz="1800" strike="noStrike" u="none">
              <a:solidFill>
                <a:srgbClr val="000000"/>
              </a:solidFill>
              <a:uFillTx/>
              <a:latin typeface="Calibri"/>
            </a:endParaRPr>
          </a:p>
          <a:p>
            <a:pPr>
              <a:buClr>
                <a:srgbClr val="000000"/>
              </a:buClr>
              <a:buFont typeface="Calibri"/>
              <a:buAutoNum type="alphaU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Inorganic fungicides </a:t>
            </a:r>
            <a:r>
              <a:rPr b="0" lang="en-US" sz="1800" strike="noStrike" u="none">
                <a:solidFill>
                  <a:srgbClr val="000000"/>
                </a:solidFill>
                <a:uFillTx/>
                <a:latin typeface="Calibri"/>
              </a:rPr>
              <a:t>: It includes sulfur powder, lime sulfur, copper sulfate, mercuric chloride etc… </a:t>
            </a:r>
            <a:endParaRPr b="0" lang="en-US" sz="1800" strike="noStrike" u="none">
              <a:solidFill>
                <a:srgbClr val="000000"/>
              </a:solidFill>
              <a:uFillTx/>
              <a:latin typeface="Calibri"/>
            </a:endParaRPr>
          </a:p>
          <a:p>
            <a:pPr>
              <a:buClr>
                <a:srgbClr val="000000"/>
              </a:buClr>
              <a:buFont typeface="Calibri"/>
              <a:buAutoNum type="alphaU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B. Organic fungicides </a:t>
            </a:r>
            <a:r>
              <a:rPr b="0" lang="en-US" sz="1800" strike="noStrike" u="none">
                <a:solidFill>
                  <a:srgbClr val="000000"/>
                </a:solidFill>
                <a:uFillTx/>
                <a:latin typeface="Calibri"/>
              </a:rPr>
              <a:t>: Ziram, Zineb, mancozeb etc….</a:t>
            </a: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8" name="Group 5"/>
          <p:cNvGrpSpPr/>
          <p:nvPr/>
        </p:nvGrpSpPr>
        <p:grpSpPr>
          <a:xfrm>
            <a:off x="0" y="5046840"/>
            <a:ext cx="9144000" cy="102960"/>
            <a:chOff x="0" y="5046840"/>
            <a:chExt cx="9144000" cy="102960"/>
          </a:xfrm>
        </p:grpSpPr>
        <p:sp>
          <p:nvSpPr>
            <p:cNvPr id="129"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30"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31"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32" name="Picture 10" descr=""/>
          <p:cNvPicPr/>
          <p:nvPr/>
        </p:nvPicPr>
        <p:blipFill>
          <a:blip r:embed="rId1"/>
          <a:stretch/>
        </p:blipFill>
        <p:spPr>
          <a:xfrm>
            <a:off x="8015400" y="34920"/>
            <a:ext cx="728640" cy="677880"/>
          </a:xfrm>
          <a:prstGeom prst="rect">
            <a:avLst/>
          </a:prstGeom>
          <a:noFill/>
          <a:ln w="0">
            <a:noFill/>
          </a:ln>
        </p:spPr>
      </p:pic>
      <p:sp>
        <p:nvSpPr>
          <p:cNvPr id="133" name="TextBox 1"/>
          <p:cNvSpPr/>
          <p:nvPr/>
        </p:nvSpPr>
        <p:spPr>
          <a:xfrm>
            <a:off x="157320" y="120600"/>
            <a:ext cx="785808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Chemistry, use, and mode of action of </a:t>
            </a:r>
            <a:endParaRPr b="0" lang="en-US" sz="2000" strike="noStrike" u="none">
              <a:solidFill>
                <a:srgbClr val="000000"/>
              </a:solidFill>
              <a:uFillTx/>
              <a:latin typeface="Calibri"/>
            </a:endParaRPr>
          </a:p>
        </p:txBody>
      </p:sp>
      <p:sp>
        <p:nvSpPr>
          <p:cNvPr id="134" name="TextBox 2"/>
          <p:cNvSpPr/>
          <p:nvPr/>
        </p:nvSpPr>
        <p:spPr>
          <a:xfrm>
            <a:off x="157320" y="1106640"/>
            <a:ext cx="7858080" cy="39934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1.Carbendazim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2.Carboxin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3.Captan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4.Tridemorph </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5.Copper oxychloride</a:t>
            </a:r>
            <a:endParaRPr b="0" lang="en-US" sz="16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Carbendazim :  IUPAC Name Methyl 1H-benzimidazol-2-ylcarbamate</a:t>
            </a:r>
            <a:endParaRPr b="0" lang="en-US" sz="16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Carbendazole</a:t>
            </a:r>
            <a:endParaRPr b="0" lang="en-US" sz="16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Chemical formula : C9H9N3O2  Melting Point (M.P) : 302-307˚ C </a:t>
            </a:r>
            <a:endParaRPr b="0" lang="en-US" sz="16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Uses .  It is used to control plant diseases in cereals, and fruit including citrus, bananas, strawberries, pineapple etc.. Mostly used to control Botrytis, Gloeosporium rots, powdery mildews and apple scab</a:t>
            </a:r>
            <a:endParaRPr b="0" lang="en-US" sz="16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600" strike="noStrike" u="none">
              <a:solidFill>
                <a:srgbClr val="000000"/>
              </a:solidFill>
              <a:uFillTx/>
              <a:latin typeface="Calibri"/>
            </a:endParaRPr>
          </a:p>
          <a:p>
            <a:pPr>
              <a:buClr>
                <a:srgbClr val="000000"/>
              </a:buClr>
              <a:buFont typeface="Calibri"/>
              <a:buAutoNum type="arabicPeriod"/>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600" strike="noStrike" u="none">
                <a:solidFill>
                  <a:srgbClr val="000000"/>
                </a:solidFill>
                <a:uFillTx/>
                <a:latin typeface="Calibri"/>
              </a:rPr>
              <a:t>Mode of action Carbendazim works by inhibiting the development of fungi probably by interfering with spindle formation at mitosis (cell division). affects the nervous system through their main metabolite, carbon disulfide. </a:t>
            </a:r>
            <a:endParaRPr b="0" lang="en-US" sz="16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5" name="Group 5"/>
          <p:cNvGrpSpPr/>
          <p:nvPr/>
        </p:nvGrpSpPr>
        <p:grpSpPr>
          <a:xfrm>
            <a:off x="0" y="5046840"/>
            <a:ext cx="9144000" cy="102960"/>
            <a:chOff x="0" y="5046840"/>
            <a:chExt cx="9144000" cy="102960"/>
          </a:xfrm>
        </p:grpSpPr>
        <p:sp>
          <p:nvSpPr>
            <p:cNvPr id="136"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37"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38"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39" name="Picture 10" descr=""/>
          <p:cNvPicPr/>
          <p:nvPr/>
        </p:nvPicPr>
        <p:blipFill>
          <a:blip r:embed="rId1"/>
          <a:stretch/>
        </p:blipFill>
        <p:spPr>
          <a:xfrm>
            <a:off x="8015400" y="34920"/>
            <a:ext cx="728640" cy="677880"/>
          </a:xfrm>
          <a:prstGeom prst="rect">
            <a:avLst/>
          </a:prstGeom>
          <a:noFill/>
          <a:ln w="0">
            <a:noFill/>
          </a:ln>
        </p:spPr>
      </p:pic>
      <p:sp>
        <p:nvSpPr>
          <p:cNvPr id="140" name="TextBox 1"/>
          <p:cNvSpPr/>
          <p:nvPr/>
        </p:nvSpPr>
        <p:spPr>
          <a:xfrm>
            <a:off x="252360" y="157320"/>
            <a:ext cx="6100920" cy="581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3200" strike="noStrike" u="none">
                <a:solidFill>
                  <a:srgbClr val="000000"/>
                </a:solidFill>
                <a:uFillTx/>
                <a:latin typeface="Calibri"/>
              </a:rPr>
              <a:t>Captan :</a:t>
            </a:r>
            <a:endParaRPr b="0" lang="en-US" sz="3200" strike="noStrike" u="none">
              <a:solidFill>
                <a:srgbClr val="000000"/>
              </a:solidFill>
              <a:uFillTx/>
              <a:latin typeface="Calibri"/>
            </a:endParaRPr>
          </a:p>
        </p:txBody>
      </p:sp>
      <p:sp>
        <p:nvSpPr>
          <p:cNvPr id="141" name="TextBox 2"/>
          <p:cNvSpPr/>
          <p:nvPr/>
        </p:nvSpPr>
        <p:spPr>
          <a:xfrm>
            <a:off x="252360" y="985680"/>
            <a:ext cx="8128080" cy="39344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IUPAC Name : 2-(trichloromethylsulfanyl)-3a,4,7,7a-tetrahydroisoindole-1,3-dione Others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Name : Captaf Hexacap Captab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Properties . Odorless  white crystalline powder Melting point 172.5˚ C Slightly soluble in ethylene dichloride Noncorrosive in nature</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Uses : Captan is predominantly used in agriculture as a fungicide on a wide variety of fruits, vegetables, and ornamentals on plant seeds, and also on food crop packaging boxes. Captan is also used in cosmetics  pharmaceuticals oil-based paints  wallpaper paste Plasticizers rubber stabilizers  textiles etc……</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Mode of action . Captan is non specific thiol rectant with protective and curative action that works by inhibiting respiration of numerous species of fungi and bacteria The mechanism of action may involve the degradation of captan in to the short lived thio phosgene which is highly reactive with thiols and other functional group</a:t>
            </a: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2" name="Group 5"/>
          <p:cNvGrpSpPr/>
          <p:nvPr/>
        </p:nvGrpSpPr>
        <p:grpSpPr>
          <a:xfrm>
            <a:off x="0" y="5046840"/>
            <a:ext cx="9144000" cy="102960"/>
            <a:chOff x="0" y="5046840"/>
            <a:chExt cx="9144000" cy="102960"/>
          </a:xfrm>
        </p:grpSpPr>
        <p:sp>
          <p:nvSpPr>
            <p:cNvPr id="143"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44"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45"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46" name="Picture 10" descr=""/>
          <p:cNvPicPr/>
          <p:nvPr/>
        </p:nvPicPr>
        <p:blipFill>
          <a:blip r:embed="rId1"/>
          <a:stretch/>
        </p:blipFill>
        <p:spPr>
          <a:xfrm>
            <a:off x="8015400" y="34920"/>
            <a:ext cx="728640" cy="677880"/>
          </a:xfrm>
          <a:prstGeom prst="rect">
            <a:avLst/>
          </a:prstGeom>
          <a:noFill/>
          <a:ln w="0">
            <a:noFill/>
          </a:ln>
        </p:spPr>
      </p:pic>
      <p:sp>
        <p:nvSpPr>
          <p:cNvPr id="147" name="TextBox 5"/>
          <p:cNvSpPr/>
          <p:nvPr/>
        </p:nvSpPr>
        <p:spPr>
          <a:xfrm>
            <a:off x="325440" y="157320"/>
            <a:ext cx="653256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400" strike="noStrike" u="none">
                <a:solidFill>
                  <a:srgbClr val="000000"/>
                </a:solidFill>
                <a:uFillTx/>
                <a:latin typeface="Calibri"/>
              </a:rPr>
              <a:t>Tridemorph </a:t>
            </a:r>
            <a:endParaRPr b="0" lang="en-US" sz="2400" strike="noStrike" u="none">
              <a:solidFill>
                <a:srgbClr val="000000"/>
              </a:solidFill>
              <a:uFillTx/>
              <a:latin typeface="Calibri"/>
            </a:endParaRPr>
          </a:p>
        </p:txBody>
      </p:sp>
      <p:sp>
        <p:nvSpPr>
          <p:cNvPr id="148" name="TextBox 7"/>
          <p:cNvSpPr/>
          <p:nvPr/>
        </p:nvSpPr>
        <p:spPr>
          <a:xfrm>
            <a:off x="325440" y="1058760"/>
            <a:ext cx="8055000" cy="2562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Name 2,6-Dimethyl-4-tridecylmorpholine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t>
            </a:r>
            <a:r>
              <a:rPr b="0" lang="en-US" sz="1800" strike="noStrike" u="none">
                <a:solidFill>
                  <a:srgbClr val="000000"/>
                </a:solidFill>
                <a:uFillTx/>
                <a:latin typeface="Calibri"/>
              </a:rPr>
              <a:t>Molecular Formula C19H39NO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0" lang="en-US" sz="1800" strike="noStrike" u="none">
                <a:solidFill>
                  <a:srgbClr val="000000"/>
                </a:solidFill>
                <a:uFillTx/>
                <a:latin typeface="Calibri"/>
              </a:rPr>
              <a:t>Properties Boiling point : 134˚ C Yellow oily liquid  .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Uses : fungicide used to control Erysiphe graminis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t>
            </a:r>
            <a:r>
              <a:rPr b="0" lang="en-US" sz="1800" strike="noStrike" u="none">
                <a:solidFill>
                  <a:srgbClr val="000000"/>
                </a:solidFill>
                <a:uFillTx/>
                <a:latin typeface="Calibri"/>
              </a:rPr>
              <a:t>moderately hazardous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t>
            </a:r>
            <a:r>
              <a:rPr b="0" lang="en-US" sz="1800" strike="noStrike" u="none">
                <a:solidFill>
                  <a:srgbClr val="000000"/>
                </a:solidFill>
                <a:uFillTx/>
                <a:latin typeface="Calibri"/>
              </a:rPr>
              <a:t>Mode of action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t>
            </a:r>
            <a:r>
              <a:rPr b="0" lang="en-US" sz="1800" strike="noStrike" u="none">
                <a:solidFill>
                  <a:srgbClr val="000000"/>
                </a:solidFill>
                <a:uFillTx/>
                <a:latin typeface="Calibri"/>
              </a:rPr>
              <a:t>Inhibit protein and RNA synthesis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t>
            </a:r>
            <a:r>
              <a:rPr b="0" lang="en-US" sz="1800" strike="noStrike" u="none">
                <a:solidFill>
                  <a:srgbClr val="000000"/>
                </a:solidFill>
                <a:uFillTx/>
                <a:latin typeface="Calibri"/>
              </a:rPr>
              <a:t>Inhibit lipid synthesis and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t>
            </a:r>
            <a:r>
              <a:rPr b="0" lang="en-US" sz="1800" strike="noStrike" u="none">
                <a:solidFill>
                  <a:srgbClr val="000000"/>
                </a:solidFill>
                <a:uFillTx/>
                <a:latin typeface="Calibri"/>
              </a:rPr>
              <a:t>Often inhibit sterol biosynthesis </a:t>
            </a: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9" name="Group 5"/>
          <p:cNvGrpSpPr/>
          <p:nvPr/>
        </p:nvGrpSpPr>
        <p:grpSpPr>
          <a:xfrm>
            <a:off x="0" y="5046840"/>
            <a:ext cx="9144000" cy="102960"/>
            <a:chOff x="0" y="5046840"/>
            <a:chExt cx="9144000" cy="102960"/>
          </a:xfrm>
        </p:grpSpPr>
        <p:sp>
          <p:nvSpPr>
            <p:cNvPr id="150"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51"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52"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53" name="Picture 10" descr=""/>
          <p:cNvPicPr/>
          <p:nvPr/>
        </p:nvPicPr>
        <p:blipFill>
          <a:blip r:embed="rId1"/>
          <a:stretch/>
        </p:blipFill>
        <p:spPr>
          <a:xfrm>
            <a:off x="8015400" y="34920"/>
            <a:ext cx="728640" cy="677880"/>
          </a:xfrm>
          <a:prstGeom prst="rect">
            <a:avLst/>
          </a:prstGeom>
          <a:noFill/>
          <a:ln w="0">
            <a:noFill/>
          </a:ln>
        </p:spPr>
      </p:pic>
      <p:sp>
        <p:nvSpPr>
          <p:cNvPr id="154" name="TextBox 1"/>
          <p:cNvSpPr/>
          <p:nvPr/>
        </p:nvSpPr>
        <p:spPr>
          <a:xfrm>
            <a:off x="252360" y="157320"/>
            <a:ext cx="6100920" cy="520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800" strike="noStrike" u="none">
                <a:solidFill>
                  <a:srgbClr val="000000"/>
                </a:solidFill>
                <a:uFillTx/>
                <a:latin typeface="Calibri"/>
              </a:rPr>
              <a:t>Copper oxychloride</a:t>
            </a:r>
            <a:endParaRPr b="0" lang="en-US" sz="2800" strike="noStrike" u="none">
              <a:solidFill>
                <a:srgbClr val="000000"/>
              </a:solidFill>
              <a:uFillTx/>
              <a:latin typeface="Calibri"/>
            </a:endParaRPr>
          </a:p>
        </p:txBody>
      </p:sp>
      <p:sp>
        <p:nvSpPr>
          <p:cNvPr id="155" name="TextBox 2"/>
          <p:cNvSpPr/>
          <p:nvPr/>
        </p:nvSpPr>
        <p:spPr>
          <a:xfrm>
            <a:off x="252360" y="985680"/>
            <a:ext cx="8128080" cy="37530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Name Dicopper Chloride Trihydroxide</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 </a:t>
            </a:r>
            <a:r>
              <a:rPr b="0" lang="en-US" sz="2000" strike="noStrike" u="none">
                <a:solidFill>
                  <a:srgbClr val="000000"/>
                </a:solidFill>
                <a:uFillTx/>
                <a:latin typeface="Calibri"/>
              </a:rPr>
              <a:t>Properties Not flammable Highly toxic fungicide Insoluble in water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Uses : Copper Oxychloride is for the control of fungal and bacterial diseases in fruit and vegetable crops, citrus, stone fruit, pome fruit and ornamentals.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a:t>
            </a:r>
            <a:r>
              <a:rPr b="0" lang="en-US" sz="2000" strike="noStrike" u="none">
                <a:solidFill>
                  <a:srgbClr val="000000"/>
                </a:solidFill>
                <a:uFillTx/>
                <a:latin typeface="Calibri"/>
              </a:rPr>
              <a:t>Key Features and Benefits . • Economical control of a wide range of fungal and bacterial diseases in many crops and situations • pH neutral product and ultra-fine particle size with majority of particles less than or equal to 2-micron diameter • Free flowing product for easy mixing and application • Can be applied in tank mixes with a wide range of other chemicals and/or fertilisers.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a:t>
            </a:r>
            <a:r>
              <a:rPr b="0" lang="en-US" sz="2000" strike="noStrike" u="none">
                <a:solidFill>
                  <a:srgbClr val="000000"/>
                </a:solidFill>
                <a:uFillTx/>
                <a:latin typeface="Calibri"/>
              </a:rPr>
              <a:t>Mode of action : .  Interfers with the enzyme system of mycelium and spores.</a:t>
            </a:r>
            <a:endParaRPr b="0" lang="en-US" sz="20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6" name="Group 5"/>
          <p:cNvGrpSpPr/>
          <p:nvPr/>
        </p:nvGrpSpPr>
        <p:grpSpPr>
          <a:xfrm>
            <a:off x="0" y="5046840"/>
            <a:ext cx="9144000" cy="102960"/>
            <a:chOff x="0" y="5046840"/>
            <a:chExt cx="9144000" cy="102960"/>
          </a:xfrm>
        </p:grpSpPr>
        <p:sp>
          <p:nvSpPr>
            <p:cNvPr id="157"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58"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59"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60" name="Picture 10" descr=""/>
          <p:cNvPicPr/>
          <p:nvPr/>
        </p:nvPicPr>
        <p:blipFill>
          <a:blip r:embed="rId1"/>
          <a:stretch/>
        </p:blipFill>
        <p:spPr>
          <a:xfrm>
            <a:off x="8015400" y="34920"/>
            <a:ext cx="728640" cy="677880"/>
          </a:xfrm>
          <a:prstGeom prst="rect">
            <a:avLst/>
          </a:prstGeom>
          <a:noFill/>
          <a:ln w="0">
            <a:noFill/>
          </a:ln>
        </p:spPr>
      </p:pic>
      <p:sp>
        <p:nvSpPr>
          <p:cNvPr id="161" name="TextBox 5"/>
          <p:cNvSpPr/>
          <p:nvPr/>
        </p:nvSpPr>
        <p:spPr>
          <a:xfrm>
            <a:off x="131760" y="131760"/>
            <a:ext cx="7640640" cy="1069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3200" strike="noStrike" u="none">
                <a:solidFill>
                  <a:srgbClr val="000000"/>
                </a:solidFill>
                <a:uFillTx/>
                <a:latin typeface="Calibri"/>
              </a:rPr>
              <a:t>Lect  35: Plant growth regulators </a:t>
            </a:r>
            <a:endParaRPr b="0" lang="en-US" sz="32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3200" strike="noStrike" u="none">
              <a:solidFill>
                <a:srgbClr val="000000"/>
              </a:solidFill>
              <a:uFillTx/>
              <a:latin typeface="Calibri"/>
            </a:endParaRPr>
          </a:p>
        </p:txBody>
      </p:sp>
      <p:sp>
        <p:nvSpPr>
          <p:cNvPr id="162" name="TextBox 7"/>
          <p:cNvSpPr/>
          <p:nvPr/>
        </p:nvSpPr>
        <p:spPr>
          <a:xfrm>
            <a:off x="131760" y="1071720"/>
            <a:ext cx="8470800" cy="31431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Plant growth Regulators  :  </a:t>
            </a:r>
            <a:r>
              <a:rPr b="0" lang="en-US" sz="2000" strike="noStrike" u="none">
                <a:solidFill>
                  <a:srgbClr val="000000"/>
                </a:solidFill>
                <a:uFillTx/>
                <a:latin typeface="Calibri"/>
              </a:rPr>
              <a:t>Substances that cause the acceleration or retardation of the rate of growth or rate of maturation.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Defoliants :</a:t>
            </a:r>
            <a:r>
              <a:rPr b="0" lang="en-US" sz="2000" strike="noStrike" u="none">
                <a:solidFill>
                  <a:srgbClr val="000000"/>
                </a:solidFill>
                <a:uFillTx/>
                <a:latin typeface="Calibri"/>
              </a:rPr>
              <a:t> substances that cause the plant leaves to die and fall away.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Dessicants</a:t>
            </a:r>
            <a:r>
              <a:rPr b="0" lang="en-US" sz="2000" strike="noStrike" u="none">
                <a:solidFill>
                  <a:srgbClr val="000000"/>
                </a:solidFill>
                <a:uFillTx/>
                <a:latin typeface="Calibri"/>
              </a:rPr>
              <a:t> : substances that cause to drain moisture out of plants causing them to dry.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Attractants</a:t>
            </a:r>
            <a:r>
              <a:rPr b="0" lang="en-US" sz="2000" strike="noStrike" u="none">
                <a:solidFill>
                  <a:srgbClr val="000000"/>
                </a:solidFill>
                <a:uFillTx/>
                <a:latin typeface="Calibri"/>
              </a:rPr>
              <a:t> : Substances that attract pests. </a:t>
            </a:r>
            <a:r>
              <a:rPr b="0" lang="en-US" sz="2000" strike="noStrike" u="none">
                <a:solidFill>
                  <a:srgbClr val="000000"/>
                </a:solidFill>
                <a:uFillTx/>
                <a:latin typeface="Calibri"/>
              </a:rPr>
              <a:t>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Repellents</a:t>
            </a:r>
            <a:r>
              <a:rPr b="0" lang="en-US" sz="2000" strike="noStrike" u="none">
                <a:solidFill>
                  <a:srgbClr val="000000"/>
                </a:solidFill>
                <a:uFillTx/>
                <a:latin typeface="Calibri"/>
              </a:rPr>
              <a:t> : substances that repels the pest from a treated plant.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	</a:t>
            </a:r>
            <a:r>
              <a:rPr b="0" lang="en-US" sz="2000" strike="noStrike" u="none">
                <a:solidFill>
                  <a:srgbClr val="000000"/>
                </a:solidFill>
                <a:uFillTx/>
                <a:latin typeface="Calibri"/>
              </a:rPr>
              <a:t>Plant growth regulators are chemicals used for causing acceleration or retardation of the rate of growth or rate of maturation of the plants and are legally considered as pesticides</a:t>
            </a:r>
            <a:endParaRPr b="0" lang="en-US" sz="20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3" name="Group 5"/>
          <p:cNvGrpSpPr/>
          <p:nvPr/>
        </p:nvGrpSpPr>
        <p:grpSpPr>
          <a:xfrm>
            <a:off x="0" y="5046840"/>
            <a:ext cx="9144000" cy="102960"/>
            <a:chOff x="0" y="5046840"/>
            <a:chExt cx="9144000" cy="102960"/>
          </a:xfrm>
        </p:grpSpPr>
        <p:sp>
          <p:nvSpPr>
            <p:cNvPr id="164"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65"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66"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67" name="Picture 10" descr=""/>
          <p:cNvPicPr/>
          <p:nvPr/>
        </p:nvPicPr>
        <p:blipFill>
          <a:blip r:embed="rId1"/>
          <a:stretch/>
        </p:blipFill>
        <p:spPr>
          <a:xfrm>
            <a:off x="8015400" y="34920"/>
            <a:ext cx="728640" cy="677880"/>
          </a:xfrm>
          <a:prstGeom prst="rect">
            <a:avLst/>
          </a:prstGeom>
          <a:noFill/>
          <a:ln w="0">
            <a:noFill/>
          </a:ln>
        </p:spPr>
      </p:pic>
      <p:sp>
        <p:nvSpPr>
          <p:cNvPr id="168" name="TextBox 5"/>
          <p:cNvSpPr/>
          <p:nvPr/>
        </p:nvSpPr>
        <p:spPr>
          <a:xfrm>
            <a:off x="131760" y="34920"/>
            <a:ext cx="8483760" cy="8254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400" strike="noStrike" u="none">
                <a:solidFill>
                  <a:srgbClr val="000000"/>
                </a:solidFill>
                <a:uFillTx/>
                <a:latin typeface="Calibri"/>
              </a:rPr>
              <a:t>The plant growth regulators are classified into following groups. </a:t>
            </a:r>
            <a:endParaRPr b="0" lang="en-US" sz="24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400" strike="noStrike" u="none">
              <a:solidFill>
                <a:srgbClr val="000000"/>
              </a:solidFill>
              <a:uFillTx/>
              <a:latin typeface="Calibri"/>
            </a:endParaRPr>
          </a:p>
        </p:txBody>
      </p:sp>
      <p:sp>
        <p:nvSpPr>
          <p:cNvPr id="169" name="TextBox 7"/>
          <p:cNvSpPr/>
          <p:nvPr/>
        </p:nvSpPr>
        <p:spPr>
          <a:xfrm>
            <a:off x="349200" y="1071720"/>
            <a:ext cx="7666200" cy="3233880"/>
          </a:xfrm>
          <a:prstGeom prst="rect">
            <a:avLst/>
          </a:prstGeom>
          <a:noFill/>
          <a:ln w="0">
            <a:noFill/>
          </a:ln>
        </p:spPr>
        <p:style>
          <a:lnRef idx="0"/>
          <a:fillRef idx="0"/>
          <a:effectRef idx="0"/>
          <a:fontRef idx="minor"/>
        </p:style>
        <p:txBody>
          <a:bodyPr lIns="90000" rIns="90000" tIns="46800" bIns="46800" anchor="t">
            <a:spAutoFit/>
          </a:bodyPr>
          <a:p>
            <a:pPr marL="343080" indent="-343080">
              <a:buClr>
                <a:srgbClr val="000000"/>
              </a:buClr>
              <a:buFont typeface="Calibri"/>
              <a:buAutoNum type="arabi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Auxins</a:t>
            </a:r>
            <a:r>
              <a:rPr b="0" lang="en-US" sz="1800" strike="noStrike" u="none">
                <a:solidFill>
                  <a:srgbClr val="000000"/>
                </a:solidFill>
                <a:uFillTx/>
                <a:latin typeface="Calibri"/>
              </a:rPr>
              <a:t>	</a:t>
            </a:r>
            <a:endParaRPr b="0" lang="en-US" sz="1800" strike="noStrike" u="none">
              <a:solidFill>
                <a:srgbClr val="000000"/>
              </a:solidFill>
              <a:uFillTx/>
              <a:latin typeface="Calibri"/>
            </a:endParaRPr>
          </a:p>
          <a:p>
            <a:pPr marL="343080" indent="-343080">
              <a:buClr>
                <a:srgbClr val="000000"/>
              </a:buClr>
              <a:buFont typeface="Calibri"/>
              <a:buAutoNum type="arabi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0" lang="en-US" sz="1800" strike="noStrike" u="none">
                <a:solidFill>
                  <a:srgbClr val="000000"/>
                </a:solidFill>
                <a:uFillTx/>
                <a:latin typeface="Calibri"/>
              </a:rPr>
              <a:t>Gibberelins</a:t>
            </a:r>
            <a:r>
              <a:rPr b="0" lang="en-US" sz="1800" strike="noStrike" u="none">
                <a:solidFill>
                  <a:srgbClr val="000000"/>
                </a:solidFill>
                <a:uFillTx/>
                <a:latin typeface="Calibri"/>
              </a:rPr>
              <a:t>	</a:t>
            </a:r>
            <a:endParaRPr b="0" lang="en-US" sz="1800" strike="noStrike" u="none">
              <a:solidFill>
                <a:srgbClr val="000000"/>
              </a:solidFill>
              <a:uFillTx/>
              <a:latin typeface="Calibri"/>
            </a:endParaRPr>
          </a:p>
          <a:p>
            <a:pPr marL="343080" indent="-343080">
              <a:buClr>
                <a:srgbClr val="000000"/>
              </a:buClr>
              <a:buFont typeface="Calibri"/>
              <a:buAutoNum type="arabi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0" lang="en-US" sz="1800" strike="noStrike" u="none">
                <a:solidFill>
                  <a:srgbClr val="000000"/>
                </a:solidFill>
                <a:uFillTx/>
                <a:latin typeface="Calibri"/>
              </a:rPr>
              <a:t>Cytoleinns</a:t>
            </a:r>
            <a:r>
              <a:rPr b="0" lang="en-US" sz="1800" strike="noStrike" u="none">
                <a:solidFill>
                  <a:srgbClr val="000000"/>
                </a:solidFill>
                <a:uFillTx/>
                <a:latin typeface="Calibri"/>
              </a:rPr>
              <a:t>	</a:t>
            </a:r>
            <a:endParaRPr b="0" lang="en-US" sz="18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4) Inhibitors and retardants.</a:t>
            </a:r>
            <a:r>
              <a:rPr b="0" lang="en-US" sz="1800" strike="noStrike" u="none">
                <a:solidFill>
                  <a:srgbClr val="000000"/>
                </a:solidFill>
                <a:uFillTx/>
                <a:latin typeface="Calibri"/>
              </a:rPr>
              <a:t>	</a:t>
            </a:r>
            <a:endParaRPr b="0" lang="en-US" sz="18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5) Ethylene generators.</a:t>
            </a:r>
            <a:endParaRPr b="0" lang="en-US" sz="18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A)</a:t>
            </a:r>
            <a:r>
              <a:rPr b="1" lang="en-US" sz="1800" strike="noStrike" u="none">
                <a:solidFill>
                  <a:srgbClr val="000000"/>
                </a:solidFill>
                <a:uFillTx/>
                <a:latin typeface="Calibri"/>
              </a:rPr>
              <a:t>	</a:t>
            </a:r>
            <a:r>
              <a:rPr b="1" lang="en-US" sz="1800" strike="noStrike" u="none">
                <a:solidFill>
                  <a:srgbClr val="000000"/>
                </a:solidFill>
                <a:uFillTx/>
                <a:latin typeface="Calibri"/>
              </a:rPr>
              <a:t>Phyto-hormones :</a:t>
            </a:r>
            <a:r>
              <a:rPr b="0" lang="en-US" sz="1800" strike="noStrike" u="none">
                <a:solidFill>
                  <a:srgbClr val="000000"/>
                </a:solidFill>
                <a:uFillTx/>
                <a:latin typeface="Calibri"/>
              </a:rPr>
              <a:t> Defined as organic compound of than nutrients which in small amounts, promote, inhibit otherwise modify the plant physiological process. </a:t>
            </a:r>
            <a:endParaRPr b="0" lang="en-US" sz="18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a:p>
            <a:pPr marL="343080" indent="-34308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0" name="Group 5"/>
          <p:cNvGrpSpPr/>
          <p:nvPr/>
        </p:nvGrpSpPr>
        <p:grpSpPr>
          <a:xfrm>
            <a:off x="0" y="5046840"/>
            <a:ext cx="9144000" cy="102960"/>
            <a:chOff x="0" y="5046840"/>
            <a:chExt cx="9144000" cy="102960"/>
          </a:xfrm>
        </p:grpSpPr>
        <p:sp>
          <p:nvSpPr>
            <p:cNvPr id="171"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72"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73"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74" name="Picture 10" descr=""/>
          <p:cNvPicPr/>
          <p:nvPr/>
        </p:nvPicPr>
        <p:blipFill>
          <a:blip r:embed="rId1"/>
          <a:stretch/>
        </p:blipFill>
        <p:spPr>
          <a:xfrm>
            <a:off x="8015400" y="34920"/>
            <a:ext cx="728640" cy="677880"/>
          </a:xfrm>
          <a:prstGeom prst="rect">
            <a:avLst/>
          </a:prstGeom>
          <a:noFill/>
          <a:ln w="0">
            <a:noFill/>
          </a:ln>
        </p:spPr>
      </p:pic>
      <p:sp>
        <p:nvSpPr>
          <p:cNvPr id="175" name="TextBox 2"/>
          <p:cNvSpPr/>
          <p:nvPr/>
        </p:nvSpPr>
        <p:spPr>
          <a:xfrm>
            <a:off x="252360" y="985680"/>
            <a:ext cx="8128080" cy="36601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Auxins </a:t>
            </a:r>
            <a:r>
              <a:rPr b="0" lang="en-US" sz="1800" strike="noStrike" u="none">
                <a:solidFill>
                  <a:srgbClr val="000000"/>
                </a:solidFill>
                <a:uFillTx/>
                <a:latin typeface="Calibri"/>
              </a:rPr>
              <a:t>– Group of compound that induce elongation in shoot cells e.g. FAA, IAA, NAA.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Gibbrellins</a:t>
            </a:r>
            <a:r>
              <a:rPr b="0" lang="en-US" sz="1800" strike="noStrike" u="none">
                <a:solidFill>
                  <a:srgbClr val="000000"/>
                </a:solidFill>
                <a:uFillTx/>
                <a:latin typeface="Calibri"/>
              </a:rPr>
              <a:t> – Having gibbane skeleton, stimulate cell di or cell elongation or both eg. G.A.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Cytokinxins</a:t>
            </a:r>
            <a:r>
              <a:rPr b="0" lang="en-US" sz="1800" strike="noStrike" u="none">
                <a:solidFill>
                  <a:srgbClr val="000000"/>
                </a:solidFill>
                <a:uFillTx/>
                <a:latin typeface="Calibri"/>
              </a:rPr>
              <a:t> – Derivatives of adenine. They induce cell and cell differentiation. eg. Zeatin, Zip, kinetin, 6-Benzylamino.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800" strike="noStrike" u="none">
                <a:solidFill>
                  <a:srgbClr val="000000"/>
                </a:solidFill>
                <a:uFillTx/>
                <a:latin typeface="Calibri"/>
              </a:rPr>
              <a:t>Ethylene generators </a:t>
            </a:r>
            <a:r>
              <a:rPr b="0" lang="en-US" sz="1800" strike="noStrike" u="none">
                <a:solidFill>
                  <a:srgbClr val="000000"/>
                </a:solidFill>
                <a:uFillTx/>
                <a:latin typeface="Calibri"/>
              </a:rPr>
              <a:t>– They induce uniform ripening eg. Ethephon.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I</a:t>
            </a:r>
            <a:r>
              <a:rPr b="1" lang="en-US" sz="1800" strike="noStrike" u="none">
                <a:solidFill>
                  <a:srgbClr val="000000"/>
                </a:solidFill>
                <a:uFillTx/>
                <a:latin typeface="Calibri"/>
              </a:rPr>
              <a:t>nhibitors : </a:t>
            </a:r>
            <a:r>
              <a:rPr b="0" lang="en-US" sz="1800" strike="noStrike" u="none">
                <a:solidFill>
                  <a:srgbClr val="000000"/>
                </a:solidFill>
                <a:uFillTx/>
                <a:latin typeface="Calibri"/>
              </a:rPr>
              <a:t>Inhibit physiological processes and retard and retardants growth in plant. e.g. Benzoic acid, cinnamic acid, Gallic acid Abscisic acid, cycocel,. </a:t>
            </a:r>
            <a:endParaRPr b="0" lang="en-US" sz="1800" strike="noStrike" u="none">
              <a:solidFill>
                <a:srgbClr val="000000"/>
              </a:solidFill>
              <a:uFillTx/>
              <a:latin typeface="Calibri"/>
            </a:endParaRPr>
          </a:p>
        </p:txBody>
      </p:sp>
      <p:sp>
        <p:nvSpPr>
          <p:cNvPr id="176" name="TextBox 5"/>
          <p:cNvSpPr/>
          <p:nvPr/>
        </p:nvSpPr>
        <p:spPr>
          <a:xfrm>
            <a:off x="252360" y="34920"/>
            <a:ext cx="6954840" cy="1069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3200" strike="noStrike" u="none">
                <a:solidFill>
                  <a:srgbClr val="000000"/>
                </a:solidFill>
                <a:uFillTx/>
                <a:latin typeface="Calibri"/>
              </a:rPr>
              <a:t>Classification of phyto-hormones</a:t>
            </a:r>
            <a:endParaRPr b="0" lang="en-US" sz="32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32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7" name="Group 5"/>
          <p:cNvGrpSpPr/>
          <p:nvPr/>
        </p:nvGrpSpPr>
        <p:grpSpPr>
          <a:xfrm>
            <a:off x="0" y="5046840"/>
            <a:ext cx="9144000" cy="102960"/>
            <a:chOff x="0" y="5046840"/>
            <a:chExt cx="9144000" cy="102960"/>
          </a:xfrm>
        </p:grpSpPr>
        <p:sp>
          <p:nvSpPr>
            <p:cNvPr id="178"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79"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80"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81" name="Picture 10" descr=""/>
          <p:cNvPicPr/>
          <p:nvPr/>
        </p:nvPicPr>
        <p:blipFill>
          <a:blip r:embed="rId1"/>
          <a:stretch/>
        </p:blipFill>
        <p:spPr>
          <a:xfrm>
            <a:off x="8015400" y="34920"/>
            <a:ext cx="728640" cy="677880"/>
          </a:xfrm>
          <a:prstGeom prst="rect">
            <a:avLst/>
          </a:prstGeom>
          <a:noFill/>
          <a:ln w="0">
            <a:noFill/>
          </a:ln>
        </p:spPr>
      </p:pic>
      <p:sp>
        <p:nvSpPr>
          <p:cNvPr id="182" name="TextBox 2"/>
          <p:cNvSpPr/>
          <p:nvPr/>
        </p:nvSpPr>
        <p:spPr>
          <a:xfrm>
            <a:off x="252360" y="985680"/>
            <a:ext cx="8128080" cy="3993120"/>
          </a:xfrm>
          <a:prstGeom prst="rect">
            <a:avLst/>
          </a:prstGeom>
          <a:noFill/>
          <a:ln w="0">
            <a:noFill/>
          </a:ln>
        </p:spPr>
        <p:style>
          <a:lnRef idx="0"/>
          <a:fillRef idx="0"/>
          <a:effectRef idx="0"/>
          <a:fontRef idx="minor"/>
        </p:style>
        <p:txBody>
          <a:bodyPr lIns="90000" rIns="90000" tIns="46800" bIns="46800" anchor="t">
            <a:spAutoFit/>
          </a:bodyPr>
          <a:p>
            <a:pPr marL="514440" indent="-514440">
              <a:buClr>
                <a:srgbClr val="000000"/>
              </a:buClr>
              <a:buFont typeface="Calibri"/>
              <a:buAutoNum type="romanL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Defoliants</a:t>
            </a:r>
            <a:r>
              <a:rPr b="0" lang="en-US" sz="2000" strike="noStrike" u="none">
                <a:solidFill>
                  <a:srgbClr val="000000"/>
                </a:solidFill>
                <a:uFillTx/>
                <a:latin typeface="Calibri"/>
              </a:rPr>
              <a:t> ; Chemicals that accelerate leaf fall. Eg. </a:t>
            </a:r>
            <a:endParaRPr b="0" lang="en-US" sz="2000" strike="noStrike" u="none">
              <a:solidFill>
                <a:srgbClr val="000000"/>
              </a:solidFill>
              <a:uFillTx/>
              <a:latin typeface="Calibri"/>
            </a:endParaRPr>
          </a:p>
          <a:p>
            <a:pPr marL="514440" indent="-51444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A) Inorganic salt – sodium and magnesium chlorate. Sodium polyborate. </a:t>
            </a:r>
            <a:endParaRPr b="0" lang="en-US" sz="2000" strike="noStrike" u="none">
              <a:solidFill>
                <a:srgbClr val="000000"/>
              </a:solidFill>
              <a:uFillTx/>
              <a:latin typeface="Calibri"/>
            </a:endParaRPr>
          </a:p>
          <a:p>
            <a:pPr marL="514440" indent="-51444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B)</a:t>
            </a:r>
            <a:r>
              <a:rPr b="0" lang="en-US" sz="2000" strike="noStrike" u="none">
                <a:solidFill>
                  <a:srgbClr val="000000"/>
                </a:solidFill>
                <a:uFillTx/>
                <a:latin typeface="Calibri"/>
              </a:rPr>
              <a:t>	</a:t>
            </a:r>
            <a:r>
              <a:rPr b="1" lang="en-US" sz="2000" strike="noStrike" u="none">
                <a:solidFill>
                  <a:srgbClr val="000000"/>
                </a:solidFill>
                <a:uFillTx/>
                <a:latin typeface="Calibri"/>
              </a:rPr>
              <a:t>Organo phosphate </a:t>
            </a:r>
            <a:r>
              <a:rPr b="0" lang="en-US" sz="2000" strike="noStrike" u="none">
                <a:solidFill>
                  <a:srgbClr val="000000"/>
                </a:solidFill>
                <a:uFillTx/>
                <a:latin typeface="Calibri"/>
              </a:rPr>
              <a:t>– DEF (Tributyl phosphorothieate) Folex. </a:t>
            </a:r>
            <a:endParaRPr b="0" lang="en-US" sz="2000" strike="noStrike" u="none">
              <a:solidFill>
                <a:srgbClr val="000000"/>
              </a:solidFill>
              <a:uFillTx/>
              <a:latin typeface="Calibri"/>
            </a:endParaRPr>
          </a:p>
          <a:p>
            <a:pPr marL="514440" indent="-514440">
              <a:buClr>
                <a:srgbClr val="000000"/>
              </a:buClr>
              <a:buFont typeface="Calibri"/>
              <a:buAutoNum type="alphaUcParenR" startAt="3"/>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Bipyrillidium</a:t>
            </a:r>
            <a:r>
              <a:rPr b="0" lang="en-US" sz="2000" strike="noStrike" u="none">
                <a:solidFill>
                  <a:srgbClr val="000000"/>
                </a:solidFill>
                <a:uFillTx/>
                <a:latin typeface="Calibri"/>
              </a:rPr>
              <a:t> – Pearaquat. </a:t>
            </a:r>
            <a:endParaRPr b="0" lang="en-US" sz="2000" strike="noStrike" u="none">
              <a:solidFill>
                <a:srgbClr val="000000"/>
              </a:solidFill>
              <a:uFillTx/>
              <a:latin typeface="Calibri"/>
            </a:endParaRPr>
          </a:p>
          <a:p>
            <a:pPr marL="514440" indent="-514440">
              <a:buClr>
                <a:srgbClr val="000000"/>
              </a:buClr>
              <a:buFont typeface="Calibri"/>
              <a:buAutoNum type="alphaUcParenR" startAt="3"/>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000" strike="noStrike" u="none">
              <a:solidFill>
                <a:srgbClr val="000000"/>
              </a:solidFill>
              <a:uFillTx/>
              <a:latin typeface="Calibri"/>
            </a:endParaRPr>
          </a:p>
          <a:p>
            <a:pPr marL="514440" indent="-51444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ii)</a:t>
            </a:r>
            <a:r>
              <a:rPr b="0" lang="en-US" sz="2000" strike="noStrike" u="none">
                <a:solidFill>
                  <a:srgbClr val="000000"/>
                </a:solidFill>
                <a:uFillTx/>
                <a:latin typeface="Calibri"/>
              </a:rPr>
              <a:t>	</a:t>
            </a:r>
            <a:r>
              <a:rPr b="1" lang="en-US" sz="2000" strike="noStrike" u="none">
                <a:solidFill>
                  <a:srgbClr val="000000"/>
                </a:solidFill>
                <a:uFillTx/>
                <a:latin typeface="Calibri"/>
              </a:rPr>
              <a:t>Dessicants</a:t>
            </a:r>
            <a:r>
              <a:rPr b="0" lang="en-US" sz="2000" strike="noStrike" u="none">
                <a:solidFill>
                  <a:srgbClr val="000000"/>
                </a:solidFill>
                <a:uFillTx/>
                <a:latin typeface="Calibri"/>
              </a:rPr>
              <a:t> – chemicals designed to hasten drying of crop parts eg. Arsenic </a:t>
            </a:r>
            <a:r>
              <a:rPr b="1" lang="en-US" sz="2000" strike="noStrike" u="none">
                <a:solidFill>
                  <a:srgbClr val="000000"/>
                </a:solidFill>
                <a:uFillTx/>
                <a:latin typeface="Calibri"/>
              </a:rPr>
              <a:t>acid (H</a:t>
            </a:r>
            <a:r>
              <a:rPr b="1" lang="en-US" sz="2000" strike="noStrike" u="none" baseline="-25000">
                <a:solidFill>
                  <a:srgbClr val="000000"/>
                </a:solidFill>
                <a:uFillTx/>
                <a:latin typeface="Calibri"/>
              </a:rPr>
              <a:t>2</a:t>
            </a:r>
            <a:r>
              <a:rPr b="1" lang="en-US" sz="2000" strike="noStrike" u="none">
                <a:solidFill>
                  <a:srgbClr val="000000"/>
                </a:solidFill>
                <a:uFillTx/>
                <a:latin typeface="Calibri"/>
              </a:rPr>
              <a:t> ASH</a:t>
            </a:r>
            <a:r>
              <a:rPr b="1" lang="en-US" sz="2000" strike="noStrike" u="none" baseline="-25000">
                <a:solidFill>
                  <a:srgbClr val="000000"/>
                </a:solidFill>
                <a:uFillTx/>
                <a:latin typeface="Calibri"/>
              </a:rPr>
              <a:t>4</a:t>
            </a:r>
            <a:r>
              <a:rPr b="1" lang="en-US" sz="2000" strike="noStrike" u="none">
                <a:solidFill>
                  <a:srgbClr val="000000"/>
                </a:solidFill>
                <a:uFillTx/>
                <a:latin typeface="Calibri"/>
              </a:rPr>
              <a:t>) </a:t>
            </a:r>
            <a:endParaRPr b="0" lang="en-US" sz="2000" strike="noStrike" u="none">
              <a:solidFill>
                <a:srgbClr val="000000"/>
              </a:solidFill>
              <a:uFillTx/>
              <a:latin typeface="Calibri"/>
            </a:endParaRPr>
          </a:p>
          <a:p>
            <a:pPr marL="514440" indent="-51444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000" strike="noStrike" u="none">
                <a:solidFill>
                  <a:srgbClr val="000000"/>
                </a:solidFill>
                <a:uFillTx/>
                <a:latin typeface="Calibri"/>
              </a:rPr>
              <a:t>iii)</a:t>
            </a:r>
            <a:r>
              <a:rPr b="1" lang="en-US" sz="2000" strike="noStrike" u="none">
                <a:solidFill>
                  <a:srgbClr val="000000"/>
                </a:solidFill>
                <a:uFillTx/>
                <a:latin typeface="Calibri"/>
              </a:rPr>
              <a:t>	</a:t>
            </a:r>
            <a:r>
              <a:rPr b="1" lang="en-US" sz="2000" strike="noStrike" u="none">
                <a:solidFill>
                  <a:srgbClr val="000000"/>
                </a:solidFill>
                <a:uFillTx/>
                <a:latin typeface="Calibri"/>
              </a:rPr>
              <a:t>Synergist or Activators </a:t>
            </a:r>
            <a:r>
              <a:rPr b="0" lang="en-US" sz="2000" strike="noStrike" u="none">
                <a:solidFill>
                  <a:srgbClr val="000000"/>
                </a:solidFill>
                <a:uFillTx/>
                <a:latin typeface="Calibri"/>
              </a:rPr>
              <a:t>– </a:t>
            </a:r>
            <a:r>
              <a:rPr b="0" lang="en-US" sz="2000" strike="noStrike" u="none">
                <a:solidFill>
                  <a:srgbClr val="000000"/>
                </a:solidFill>
                <a:uFillTx/>
                <a:latin typeface="Calibri"/>
              </a:rPr>
              <a:t>	</a:t>
            </a:r>
            <a:r>
              <a:rPr b="0" lang="en-US" sz="2000" strike="noStrike" u="none">
                <a:solidFill>
                  <a:srgbClr val="000000"/>
                </a:solidFill>
                <a:uFillTx/>
                <a:latin typeface="Calibri"/>
              </a:rPr>
              <a:t>An material that are used with insecticide to synergiso or enhance the activity of insecticide. Eg. Piperonyl butoxide (PBO), sesamex, valone MGK 264. </a:t>
            </a:r>
            <a:endParaRPr b="0" lang="en-US" sz="2000" strike="noStrike" u="none">
              <a:solidFill>
                <a:srgbClr val="000000"/>
              </a:solidFill>
              <a:uFillTx/>
              <a:latin typeface="Calibri"/>
            </a:endParaRPr>
          </a:p>
          <a:p>
            <a:pPr marL="514440" indent="-51444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iv)</a:t>
            </a:r>
            <a:r>
              <a:rPr b="0" lang="en-US" sz="2000" strike="noStrike" u="none">
                <a:solidFill>
                  <a:srgbClr val="000000"/>
                </a:solidFill>
                <a:uFillTx/>
                <a:latin typeface="Calibri"/>
              </a:rPr>
              <a:t>	</a:t>
            </a:r>
            <a:r>
              <a:rPr b="1" lang="en-US" sz="2000" strike="noStrike" u="none">
                <a:solidFill>
                  <a:srgbClr val="000000"/>
                </a:solidFill>
                <a:uFillTx/>
                <a:latin typeface="Calibri"/>
              </a:rPr>
              <a:t>Microbials  Insecticides </a:t>
            </a:r>
            <a:r>
              <a:rPr b="0" lang="en-US" sz="2000" strike="noStrike" u="none">
                <a:solidFill>
                  <a:srgbClr val="000000"/>
                </a:solidFill>
                <a:uFillTx/>
                <a:latin typeface="Calibri"/>
              </a:rPr>
              <a:t>: Microorganisms which are used for control of insects. Eg. Bacillus thuringensis (BT) desease causing bacterium. </a:t>
            </a:r>
            <a:endParaRPr b="0" lang="en-US" sz="2000" strike="noStrike" u="none">
              <a:solidFill>
                <a:srgbClr val="000000"/>
              </a:solidFill>
              <a:uFillTx/>
              <a:latin typeface="Calibri"/>
            </a:endParaRPr>
          </a:p>
          <a:p>
            <a:pPr marL="514440" indent="-514440">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1300" strike="noStrike" u="none">
                <a:solidFill>
                  <a:srgbClr val="000000"/>
                </a:solidFill>
                <a:uFillTx/>
                <a:latin typeface="Calibri"/>
              </a:rPr>
              <a:t> </a:t>
            </a:r>
            <a:endParaRPr b="0" lang="en-US" sz="1300" strike="noStrike" u="none">
              <a:solidFill>
                <a:srgbClr val="000000"/>
              </a:solidFill>
              <a:uFillTx/>
              <a:latin typeface="Calibri"/>
            </a:endParaRPr>
          </a:p>
        </p:txBody>
      </p:sp>
      <p:sp>
        <p:nvSpPr>
          <p:cNvPr id="183" name="TextBox 1"/>
          <p:cNvSpPr/>
          <p:nvPr/>
        </p:nvSpPr>
        <p:spPr>
          <a:xfrm>
            <a:off x="252360" y="34920"/>
            <a:ext cx="7763040" cy="719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800" strike="noStrike" u="none">
                <a:solidFill>
                  <a:srgbClr val="000000"/>
                </a:solidFill>
                <a:uFillTx/>
                <a:latin typeface="Calibri"/>
              </a:rPr>
              <a:t>Agrochemicals with special effects</a:t>
            </a:r>
            <a:r>
              <a:rPr b="1" lang="en-US" sz="1300" strike="noStrike" u="none">
                <a:solidFill>
                  <a:srgbClr val="000000"/>
                </a:solidFill>
                <a:uFillTx/>
                <a:latin typeface="Calibri"/>
              </a:rPr>
              <a:t>.</a:t>
            </a:r>
            <a:r>
              <a:rPr b="0" lang="en-US" sz="1300" strike="noStrike" u="none">
                <a:solidFill>
                  <a:srgbClr val="000000"/>
                </a:solidFill>
                <a:uFillTx/>
                <a:latin typeface="Calibri"/>
              </a:rPr>
              <a:t> </a:t>
            </a:r>
            <a:endParaRPr b="0" lang="en-US" sz="13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4" name="Group 5"/>
          <p:cNvGrpSpPr/>
          <p:nvPr/>
        </p:nvGrpSpPr>
        <p:grpSpPr>
          <a:xfrm>
            <a:off x="0" y="5046840"/>
            <a:ext cx="9144000" cy="102960"/>
            <a:chOff x="0" y="5046840"/>
            <a:chExt cx="9144000" cy="102960"/>
          </a:xfrm>
        </p:grpSpPr>
        <p:sp>
          <p:nvSpPr>
            <p:cNvPr id="185"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86"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87"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88" name="Picture 10" descr=""/>
          <p:cNvPicPr/>
          <p:nvPr/>
        </p:nvPicPr>
        <p:blipFill>
          <a:blip r:embed="rId1"/>
          <a:stretch/>
        </p:blipFill>
        <p:spPr>
          <a:xfrm>
            <a:off x="8015400" y="34920"/>
            <a:ext cx="728640" cy="677880"/>
          </a:xfrm>
          <a:prstGeom prst="rect">
            <a:avLst/>
          </a:prstGeom>
          <a:noFill/>
          <a:ln w="0">
            <a:noFill/>
          </a:ln>
        </p:spPr>
      </p:pic>
      <p:sp>
        <p:nvSpPr>
          <p:cNvPr id="189" name="TextBox 5"/>
          <p:cNvSpPr/>
          <p:nvPr/>
        </p:nvSpPr>
        <p:spPr>
          <a:xfrm>
            <a:off x="192240" y="192240"/>
            <a:ext cx="7580160" cy="520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2800" strike="noStrike" u="none">
                <a:solidFill>
                  <a:srgbClr val="000000"/>
                </a:solidFill>
                <a:uFillTx/>
                <a:latin typeface="Calibri"/>
              </a:rPr>
              <a:t>Lect 36 : Fertilizer control order 1955</a:t>
            </a:r>
            <a:endParaRPr b="0" lang="en-US" sz="2800" strike="noStrike" u="none">
              <a:solidFill>
                <a:srgbClr val="000000"/>
              </a:solidFill>
              <a:uFillTx/>
              <a:latin typeface="Calibri"/>
            </a:endParaRPr>
          </a:p>
        </p:txBody>
      </p:sp>
      <p:sp>
        <p:nvSpPr>
          <p:cNvPr id="190" name="TextBox 7"/>
          <p:cNvSpPr/>
          <p:nvPr/>
        </p:nvSpPr>
        <p:spPr>
          <a:xfrm>
            <a:off x="517680" y="1071720"/>
            <a:ext cx="8326440" cy="37530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An order issued by the Government of India under powers conferred by Section 3 of the Essential Commodities Act 1955, under the powers, the Government controls the production, marketing, price and quality of fertilizers.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There are 39 Clauses of this order covering definitions, prices, registration of dealers and fertilizer mixtures, regulation on manufacture cell packing requirement, disposal of non-slandered fertilizers, enforcement authority, analysis of samples, etc.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The schedule I of the order includes detailed specifications of fertilizers covered by it.  </a:t>
            </a:r>
            <a:endParaRPr b="0" lang="en-US" sz="20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2000" strike="noStrike" u="none">
                <a:solidFill>
                  <a:srgbClr val="000000"/>
                </a:solidFill>
                <a:uFillTx/>
                <a:latin typeface="Calibri"/>
              </a:rPr>
              <a:t>In schedule II detailed procedure regarding sampling technique and methods of analysis is given</a:t>
            </a:r>
            <a:r>
              <a:rPr b="0" lang="en-US" sz="1300" strike="noStrike" u="none">
                <a:solidFill>
                  <a:srgbClr val="000000"/>
                </a:solidFill>
                <a:uFillTx/>
                <a:latin typeface="Calibri"/>
              </a:rPr>
              <a:t>.  </a:t>
            </a:r>
            <a:endParaRPr b="0" lang="en-US" sz="13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91" name="Group 5"/>
          <p:cNvGrpSpPr/>
          <p:nvPr/>
        </p:nvGrpSpPr>
        <p:grpSpPr>
          <a:xfrm>
            <a:off x="0" y="5046840"/>
            <a:ext cx="9144000" cy="102960"/>
            <a:chOff x="0" y="5046840"/>
            <a:chExt cx="9144000" cy="102960"/>
          </a:xfrm>
        </p:grpSpPr>
        <p:sp>
          <p:nvSpPr>
            <p:cNvPr id="192" name="Flowchart: Process 3"/>
            <p:cNvSpPr/>
            <p:nvPr/>
          </p:nvSpPr>
          <p:spPr>
            <a:xfrm>
              <a:off x="0" y="5046840"/>
              <a:ext cx="5818320" cy="102960"/>
            </a:xfrm>
            <a:prstGeom prst="flowChartProcess">
              <a:avLst/>
            </a:prstGeom>
            <a:solidFill>
              <a:srgbClr val="00b05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sp>
          <p:nvSpPr>
            <p:cNvPr id="193" name="Flowchart: Process 4"/>
            <p:cNvSpPr/>
            <p:nvPr/>
          </p:nvSpPr>
          <p:spPr>
            <a:xfrm>
              <a:off x="5818320" y="5046840"/>
              <a:ext cx="3325680" cy="100080"/>
            </a:xfrm>
            <a:prstGeom prst="flowChartProcess">
              <a:avLst/>
            </a:prstGeom>
            <a:solidFill>
              <a:srgbClr val="ff9900"/>
            </a:solidFill>
            <a:ln w="0">
              <a:noFill/>
            </a:ln>
          </p:spPr>
          <p:style>
            <a:lnRef idx="0"/>
            <a:fillRef idx="0"/>
            <a:effectRef idx="0"/>
            <a:fontRef idx="minor"/>
          </p:style>
          <p:txBody>
            <a:bodyPr lIns="90000" rIns="90000" tIns="46800" bIns="4680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grpSp>
      <p:sp>
        <p:nvSpPr>
          <p:cNvPr id="194" name="Flowchart: Process 6"/>
          <p:cNvSpPr/>
          <p:nvPr/>
        </p:nvSpPr>
        <p:spPr>
          <a:xfrm>
            <a:off x="-1440" y="731880"/>
            <a:ext cx="9145440" cy="63360"/>
          </a:xfrm>
          <a:prstGeom prst="flowChartProcess">
            <a:avLst/>
          </a:prstGeom>
          <a:solidFill>
            <a:srgbClr val="92d050"/>
          </a:solidFill>
          <a:ln w="0">
            <a:noFill/>
          </a:ln>
        </p:spPr>
        <p:style>
          <a:lnRef idx="0"/>
          <a:fillRef idx="0"/>
          <a:effectRef idx="0"/>
          <a:fontRef idx="minor"/>
        </p:style>
        <p:txBody>
          <a:bodyPr lIns="90000" rIns="90000" tIns="16560" bIns="16560" anchor="ctr">
            <a:noAutofit/>
          </a:bodyPr>
          <a:p>
            <a:pPr algn="ct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1300" strike="noStrike" u="none">
              <a:solidFill>
                <a:srgbClr val="000000"/>
              </a:solidFill>
              <a:uFillTx/>
              <a:latin typeface="Calibri"/>
            </a:endParaRPr>
          </a:p>
        </p:txBody>
      </p:sp>
      <p:pic>
        <p:nvPicPr>
          <p:cNvPr id="195" name="Picture 10" descr=""/>
          <p:cNvPicPr/>
          <p:nvPr/>
        </p:nvPicPr>
        <p:blipFill>
          <a:blip r:embed="rId1"/>
          <a:stretch/>
        </p:blipFill>
        <p:spPr>
          <a:xfrm>
            <a:off x="8015400" y="34920"/>
            <a:ext cx="728640" cy="677880"/>
          </a:xfrm>
          <a:prstGeom prst="rect">
            <a:avLst/>
          </a:prstGeom>
          <a:noFill/>
          <a:ln w="0">
            <a:noFill/>
          </a:ln>
        </p:spPr>
      </p:pic>
      <p:sp>
        <p:nvSpPr>
          <p:cNvPr id="196" name="TextBox 5"/>
          <p:cNvSpPr/>
          <p:nvPr/>
        </p:nvSpPr>
        <p:spPr>
          <a:xfrm>
            <a:off x="252360" y="34920"/>
            <a:ext cx="7591320" cy="1008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1" lang="en-US" sz="3200" strike="noStrike" u="none">
                <a:solidFill>
                  <a:srgbClr val="000000"/>
                </a:solidFill>
                <a:uFillTx/>
                <a:latin typeface="Calibri"/>
              </a:rPr>
              <a:t>Insecticide</a:t>
            </a:r>
            <a:r>
              <a:rPr b="1" lang="en-US" sz="2800" strike="noStrike" u="none">
                <a:solidFill>
                  <a:srgbClr val="000000"/>
                </a:solidFill>
                <a:uFillTx/>
                <a:latin typeface="Calibri"/>
              </a:rPr>
              <a:t> Act 1968 effective from   1/08/1971 </a:t>
            </a:r>
            <a:endParaRPr b="0" lang="en-US" sz="2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endParaRPr b="0" lang="en-US" sz="2800" strike="noStrike" u="none">
              <a:solidFill>
                <a:srgbClr val="000000"/>
              </a:solidFill>
              <a:uFillTx/>
              <a:latin typeface="Calibri"/>
            </a:endParaRPr>
          </a:p>
        </p:txBody>
      </p:sp>
      <p:sp>
        <p:nvSpPr>
          <p:cNvPr id="197" name="TextBox 7"/>
          <p:cNvSpPr/>
          <p:nvPr/>
        </p:nvSpPr>
        <p:spPr>
          <a:xfrm>
            <a:off x="252360" y="865080"/>
            <a:ext cx="8734320" cy="31114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The main objective of the Insecticide Act is to regulate the import, manufacture, safe transport, distribution and use of insecticides with a view to prevent risk to human beings, animals and for matter connected herewith.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All the regulations  of the Insecticide Act were brought into force with effect from 1</a:t>
            </a:r>
            <a:r>
              <a:rPr b="0" lang="en-US" sz="1800" strike="noStrike" u="none" baseline="30000">
                <a:solidFill>
                  <a:srgbClr val="000000"/>
                </a:solidFill>
                <a:uFillTx/>
                <a:latin typeface="Calibri"/>
              </a:rPr>
              <a:t>st</a:t>
            </a:r>
            <a:r>
              <a:rPr b="0" lang="en-US" sz="1800" strike="noStrike" u="none">
                <a:solidFill>
                  <a:srgbClr val="000000"/>
                </a:solidFill>
                <a:uFillTx/>
                <a:latin typeface="Calibri"/>
              </a:rPr>
              <a:t> August, 1971, which was passed in 1968.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Due to legal reasons, the act was called Insecticide Act and not pesticide Act under Section 93 (C) the word insecticide means. </a:t>
            </a:r>
            <a:endParaRPr b="0" lang="en-US" sz="1800" strike="noStrike" u="none">
              <a:solidFill>
                <a:srgbClr val="000000"/>
              </a:solidFill>
              <a:uFillTx/>
              <a:latin typeface="Calibri"/>
            </a:endParaRPr>
          </a:p>
          <a:p>
            <a:pPr>
              <a:buClr>
                <a:srgbClr val="000000"/>
              </a:buClr>
              <a:buFont typeface="Calibri"/>
              <a:buAutoNum type="arabi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Any substance specified in the schedule.</a:t>
            </a:r>
            <a:endParaRPr b="0" lang="en-US" sz="1800" strike="noStrike" u="none">
              <a:solidFill>
                <a:srgbClr val="000000"/>
              </a:solidFill>
              <a:uFillTx/>
              <a:latin typeface="Calibri"/>
            </a:endParaRPr>
          </a:p>
          <a:p>
            <a:pPr>
              <a:buClr>
                <a:srgbClr val="000000"/>
              </a:buClr>
              <a:buFont typeface="Calibri"/>
              <a:buAutoNum type="arabicParenR"/>
              <a:tabLst>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 </a:t>
            </a:r>
            <a:r>
              <a:rPr b="0" lang="en-US" sz="1800" strike="noStrike" u="none">
                <a:solidFill>
                  <a:srgbClr val="000000"/>
                </a:solidFill>
                <a:uFillTx/>
                <a:latin typeface="Calibri"/>
              </a:rPr>
              <a:t>(2) Any other such substances including fungicide and weedicides may be included after consolation with the board and central Government.  </a:t>
            </a:r>
            <a:endParaRPr b="0" lang="en-US" sz="1800" strike="noStrike" u="none">
              <a:solidFill>
                <a:srgbClr val="000000"/>
              </a:solidFill>
              <a:uFillTx/>
              <a:latin typeface="Calibri"/>
            </a:endParaRPr>
          </a:p>
          <a:p>
            <a:pPr>
              <a:tabLst>
                <a:tab algn="l" pos="0"/>
                <a:tab algn="l" pos="684360"/>
                <a:tab algn="l" pos="1368360"/>
                <a:tab algn="l" pos="2052720"/>
                <a:tab algn="l" pos="2736720"/>
                <a:tab algn="l" pos="3421080"/>
                <a:tab algn="l" pos="4105440"/>
                <a:tab algn="l" pos="4789440"/>
                <a:tab algn="l" pos="5473800"/>
                <a:tab algn="l" pos="6157800"/>
                <a:tab algn="l" pos="6842160"/>
                <a:tab algn="l" pos="7526160"/>
                <a:tab algn="l" pos="8210520"/>
                <a:tab algn="l" pos="8894880"/>
                <a:tab algn="l" pos="9578880"/>
                <a:tab algn="l" pos="10263240"/>
                <a:tab algn="l" pos="10947240"/>
              </a:tabLst>
            </a:pPr>
            <a:r>
              <a:rPr b="0" lang="en-US" sz="1800" strike="noStrike" u="none">
                <a:solidFill>
                  <a:srgbClr val="000000"/>
                </a:solidFill>
                <a:uFillTx/>
                <a:latin typeface="Calibri"/>
              </a:rPr>
              <a:t>(3) Any preparation containing one or more of such substances. </a:t>
            </a:r>
            <a:endParaRPr b="0" lang="en-US" sz="1800" strike="noStrike" u="none">
              <a:solidFill>
                <a:srgbClr val="000000"/>
              </a:solidFill>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BCABF6FFC2A34C99FD8E8A0EB6B502" ma:contentTypeVersion="4" ma:contentTypeDescription="Create a new document." ma:contentTypeScope="" ma:versionID="84829e981341df8492fb1f531dcf4d92">
  <xsd:schema xmlns:xsd="http://www.w3.org/2001/XMLSchema" xmlns:xs="http://www.w3.org/2001/XMLSchema" xmlns:p="http://schemas.microsoft.com/office/2006/metadata/properties" xmlns:ns2="71024f91-aad6-4d17-8144-0eed47087026" targetNamespace="http://schemas.microsoft.com/office/2006/metadata/properties" ma:root="true" ma:fieldsID="8e2829823b8e5fd950dbdc7803cc3469" ns2:_="">
    <xsd:import namespace="71024f91-aad6-4d17-8144-0eed470870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024f91-aad6-4d17-8144-0eed470870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A29CB4-9559-4CB1-9D3D-D9A93C9B819F}"/>
</file>

<file path=customXml/itemProps2.xml><?xml version="1.0" encoding="utf-8"?>
<ds:datastoreItem xmlns:ds="http://schemas.openxmlformats.org/officeDocument/2006/customXml" ds:itemID="{8EEAAAFD-9503-4DF1-A839-AB1E0C0F67ED}"/>
</file>

<file path=customXml/itemProps3.xml><?xml version="1.0" encoding="utf-8"?>
<ds:datastoreItem xmlns:ds="http://schemas.openxmlformats.org/officeDocument/2006/customXml" ds:itemID="{16D7CC86-788E-4989-8019-5026273A842C}"/>
</file>

<file path=docProps/app.xml><?xml version="1.0" encoding="utf-8"?>
<Properties xmlns="http://schemas.openxmlformats.org/officeDocument/2006/extended-properties" xmlns:vt="http://schemas.openxmlformats.org/officeDocument/2006/docPropsVTypes">
  <Template/>
  <TotalTime>4225</TotalTime>
  <Application>LibreOffice/24.8.4.2$Linux_X86_64 LibreOffice_project/480$Build-2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2025-02-17T13:20:44Z</dcterms:created>
  <dc:creator/>
  <dc:description/>
  <dc:language>en-US</dc:language>
  <cp:lastModifiedBy>satish</cp:lastModifiedBy>
  <dcterms:modified xsi:type="dcterms:W3CDTF">2020-04-06T11:28:09Z</dcterms:modified>
  <cp:revision>247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0x0101001ABCABF6FFC2A34C99FD8E8A0EB6B502</vt:lpwstr>
  </property>
</Properties>
</file>